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ial Bold" charset="1" panose="020B0704020202020204"/>
      <p:regular r:id="rId23"/>
    </p:embeddedFont>
    <p:embeddedFont>
      <p:font typeface="Arial" charset="1" panose="020B0604020202020204"/>
      <p:regular r:id="rId24"/>
    </p:embeddedFont>
    <p:embeddedFont>
      <p:font typeface="Arimo" charset="1" panose="020B06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06365" y="2114750"/>
            <a:ext cx="1107527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Hospital BI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637627" y="3734000"/>
            <a:ext cx="9012545" cy="73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Patient Experience &amp; Operational Efficiency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19637" y="5048250"/>
            <a:ext cx="2052073" cy="72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8"/>
              </a:lnSpc>
            </a:pPr>
            <a:r>
              <a:rPr lang="en-US" sz="3534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32,778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19637" y="5695661"/>
            <a:ext cx="2052073" cy="56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8"/>
              </a:lnSpc>
            </a:pPr>
            <a:r>
              <a:rPr lang="en-US" sz="2748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Patient Visits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9593" y="5048250"/>
            <a:ext cx="2038569" cy="72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8"/>
              </a:lnSpc>
            </a:pPr>
            <a:r>
              <a:rPr lang="en-US" sz="3534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9593" y="5695661"/>
            <a:ext cx="2038569" cy="56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8"/>
              </a:lnSpc>
            </a:pPr>
            <a:r>
              <a:rPr lang="en-US" sz="2748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Departments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53300" y="7489188"/>
            <a:ext cx="12981401" cy="50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January 2026 | Lyna Adalet, Tasnim BenDhia, Khalil Louhichi, Leila Baccouche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8486" y="9561319"/>
            <a:ext cx="151400" cy="42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101881" y="460029"/>
            <a:ext cx="2578005" cy="3064421"/>
          </a:xfrm>
          <a:custGeom>
            <a:avLst/>
            <a:gdLst/>
            <a:ahLst/>
            <a:cxnLst/>
            <a:rect r="r" b="b" t="t" l="l"/>
            <a:pathLst>
              <a:path h="3064421" w="2578005">
                <a:moveTo>
                  <a:pt x="0" y="0"/>
                </a:moveTo>
                <a:lnTo>
                  <a:pt x="2578005" y="0"/>
                </a:lnTo>
                <a:lnTo>
                  <a:pt x="2578005" y="3064421"/>
                </a:lnTo>
                <a:lnTo>
                  <a:pt x="0" y="3064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0704" y="1795772"/>
            <a:ext cx="15849600" cy="2361800"/>
            <a:chOff x="0" y="0"/>
            <a:chExt cx="21132800" cy="31490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800" cy="3149092"/>
            </a:xfrm>
            <a:custGeom>
              <a:avLst/>
              <a:gdLst/>
              <a:ahLst/>
              <a:cxnLst/>
              <a:rect r="r" b="b" t="t" l="l"/>
              <a:pathLst>
                <a:path h="3149092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3149092"/>
                  </a:lnTo>
                  <a:lnTo>
                    <a:pt x="0" y="3149092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60704" y="4614772"/>
            <a:ext cx="15849600" cy="2361800"/>
            <a:chOff x="0" y="0"/>
            <a:chExt cx="21132800" cy="31490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800" cy="3149092"/>
            </a:xfrm>
            <a:custGeom>
              <a:avLst/>
              <a:gdLst/>
              <a:ahLst/>
              <a:cxnLst/>
              <a:rect r="r" b="b" t="t" l="l"/>
              <a:pathLst>
                <a:path h="3149092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3149092"/>
                  </a:lnTo>
                  <a:lnTo>
                    <a:pt x="0" y="3149092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60704" y="7433772"/>
            <a:ext cx="15849600" cy="2361800"/>
            <a:chOff x="0" y="0"/>
            <a:chExt cx="21132800" cy="31490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32800" cy="3149092"/>
            </a:xfrm>
            <a:custGeom>
              <a:avLst/>
              <a:gdLst/>
              <a:ahLst/>
              <a:cxnLst/>
              <a:rect r="r" b="b" t="t" l="l"/>
              <a:pathLst>
                <a:path h="3149092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3149092"/>
                  </a:lnTo>
                  <a:lnTo>
                    <a:pt x="0" y="3149092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9200" y="11108731"/>
            <a:ext cx="15849600" cy="2361800"/>
            <a:chOff x="0" y="0"/>
            <a:chExt cx="21132800" cy="31490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132800" cy="3149092"/>
            </a:xfrm>
            <a:custGeom>
              <a:avLst/>
              <a:gdLst/>
              <a:ahLst/>
              <a:cxnLst/>
              <a:rect r="r" b="b" t="t" l="l"/>
              <a:pathLst>
                <a:path h="3149092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3149092"/>
                  </a:lnTo>
                  <a:lnTo>
                    <a:pt x="0" y="3149092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19200" y="13927731"/>
            <a:ext cx="15849600" cy="2361800"/>
            <a:chOff x="0" y="0"/>
            <a:chExt cx="21132800" cy="31490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132800" cy="3149092"/>
            </a:xfrm>
            <a:custGeom>
              <a:avLst/>
              <a:gdLst/>
              <a:ahLst/>
              <a:cxnLst/>
              <a:rect r="r" b="b" t="t" l="l"/>
              <a:pathLst>
                <a:path h="3149092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3149092"/>
                  </a:lnTo>
                  <a:lnTo>
                    <a:pt x="0" y="3149092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743712" y="664969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Project Agenda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7904" y="2205347"/>
            <a:ext cx="15233904" cy="36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Step 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7904" y="2750053"/>
            <a:ext cx="15233904" cy="57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Business Understanding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7904" y="3279491"/>
            <a:ext cx="15233904" cy="42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Identify problem, KPIs, questions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7904" y="5024347"/>
            <a:ext cx="15233904" cy="36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Step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7904" y="5569063"/>
            <a:ext cx="15233904" cy="57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Data Preparation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17904" y="6098491"/>
            <a:ext cx="15233904" cy="42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Clean &amp; transform raw 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17904" y="7843347"/>
            <a:ext cx="15233904" cy="365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Step 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7904" y="8388063"/>
            <a:ext cx="9093068" cy="57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Data Modeling &amp; Dashboard Develpoment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7904" y="9069891"/>
            <a:ext cx="15233904" cy="42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Star schema &amp; measures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6400" y="11518306"/>
            <a:ext cx="15233904" cy="42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Step 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6400" y="12063012"/>
            <a:ext cx="15233904" cy="57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Dashboards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6400" y="12592450"/>
            <a:ext cx="15233904" cy="42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Interactive visualizations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6400" y="14337306"/>
            <a:ext cx="15233904" cy="42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Step 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6400" y="14882022"/>
            <a:ext cx="15233904" cy="57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F1F5F9"/>
                </a:solidFill>
                <a:latin typeface="Arial Bold"/>
                <a:ea typeface="Arial Bold"/>
                <a:cs typeface="Arial Bold"/>
                <a:sym typeface="Arial Bold"/>
              </a:rPr>
              <a:t>Insights &amp; Actions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76400" y="15411450"/>
            <a:ext cx="15233904" cy="42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Findings &amp; recommendations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7529972" y="9561319"/>
            <a:ext cx="151400" cy="42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2804122"/>
            <a:ext cx="15849600" cy="1889522"/>
            <a:chOff x="0" y="0"/>
            <a:chExt cx="21132800" cy="25193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800" cy="2519426"/>
            </a:xfrm>
            <a:custGeom>
              <a:avLst/>
              <a:gdLst/>
              <a:ahLst/>
              <a:cxnLst/>
              <a:rect r="r" b="b" t="t" l="l"/>
              <a:pathLst>
                <a:path h="2519426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2519426"/>
                  </a:lnTo>
                  <a:lnTo>
                    <a:pt x="0" y="251942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19200" y="4998444"/>
            <a:ext cx="15849600" cy="1889522"/>
            <a:chOff x="0" y="0"/>
            <a:chExt cx="21132800" cy="2519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800" cy="2519426"/>
            </a:xfrm>
            <a:custGeom>
              <a:avLst/>
              <a:gdLst/>
              <a:ahLst/>
              <a:cxnLst/>
              <a:rect r="r" b="b" t="t" l="l"/>
              <a:pathLst>
                <a:path h="2519426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2519426"/>
                  </a:lnTo>
                  <a:lnTo>
                    <a:pt x="0" y="251942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7192766"/>
            <a:ext cx="15849600" cy="1889522"/>
            <a:chOff x="0" y="0"/>
            <a:chExt cx="21132800" cy="25193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32800" cy="2519426"/>
            </a:xfrm>
            <a:custGeom>
              <a:avLst/>
              <a:gdLst/>
              <a:ahLst/>
              <a:cxnLst/>
              <a:rect r="r" b="b" t="t" l="l"/>
              <a:pathLst>
                <a:path h="2519426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2519426"/>
                  </a:lnTo>
                  <a:lnTo>
                    <a:pt x="0" y="251942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19200" y="1190625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The Business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600" y="3080347"/>
            <a:ext cx="15156180" cy="57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Challenge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2600" y="3752650"/>
            <a:ext cx="15156180" cy="48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Patient satisfaction declining due to long waiting times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2600" y="5427069"/>
            <a:ext cx="15156180" cy="57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Target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2600" y="5946972"/>
            <a:ext cx="1515618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Reduce average wait from 80–90 min → &lt; 30 min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2600" y="7773791"/>
            <a:ext cx="15156180" cy="57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Satisfaction Goal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2600" y="8293694"/>
            <a:ext cx="15156180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Increase average satisfaction rate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529972" y="9561319"/>
            <a:ext cx="151400" cy="42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371413" y="1526689"/>
            <a:ext cx="5429873" cy="8115300"/>
          </a:xfrm>
          <a:custGeom>
            <a:avLst/>
            <a:gdLst/>
            <a:ahLst/>
            <a:cxnLst/>
            <a:rect r="r" b="b" t="t" l="l"/>
            <a:pathLst>
              <a:path h="8115300" w="5429873">
                <a:moveTo>
                  <a:pt x="0" y="0"/>
                </a:moveTo>
                <a:lnTo>
                  <a:pt x="5429874" y="0"/>
                </a:lnTo>
                <a:lnTo>
                  <a:pt x="5429874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200" y="3143250"/>
            <a:ext cx="13354770" cy="375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Average waiting time by department?</a:t>
            </a:r>
          </a:p>
          <a:p>
            <a:pPr algn="l" marL="723900" indent="-3619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Busiest hours &amp; worst wait times?</a:t>
            </a:r>
          </a:p>
          <a:p>
            <a:pPr algn="l" marL="723900" indent="-3619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Days with longest waits?</a:t>
            </a:r>
          </a:p>
          <a:p>
            <a:pPr algn="l" marL="723900" indent="-3619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Wait impact on satisfaction?</a:t>
            </a:r>
          </a:p>
          <a:p>
            <a:pPr algn="l" marL="723900" indent="-3619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Doctor performance &amp; efficiency?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1190625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10 Analytical Questions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10757385" y="1526689"/>
            <a:ext cx="5429873" cy="8115300"/>
          </a:xfrm>
          <a:custGeom>
            <a:avLst/>
            <a:gdLst/>
            <a:ahLst/>
            <a:cxnLst/>
            <a:rect r="r" b="b" t="t" l="l"/>
            <a:pathLst>
              <a:path h="8115300" w="5429873">
                <a:moveTo>
                  <a:pt x="0" y="0"/>
                </a:moveTo>
                <a:lnTo>
                  <a:pt x="5429874" y="0"/>
                </a:lnTo>
                <a:lnTo>
                  <a:pt x="5429874" y="8115300"/>
                </a:lnTo>
                <a:lnTo>
                  <a:pt x="0" y="8115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85172" y="3143250"/>
            <a:ext cx="7274128" cy="375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 visits exceeding 30-min target?</a:t>
            </a:r>
          </a:p>
          <a:p>
            <a:pPr algn="l" marL="723900" indent="-3619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Wait times by age group?</a:t>
            </a:r>
          </a:p>
          <a:p>
            <a:pPr algn="l" marL="723900" indent="-3619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Wait &amp; satisfaction by department?</a:t>
            </a:r>
          </a:p>
          <a:p>
            <a:pPr algn="l" marL="723900" indent="-3619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 hour analysis?</a:t>
            </a:r>
          </a:p>
          <a:p>
            <a:pPr algn="l" marL="723900" indent="-361950" lvl="1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Complaint patterns &amp; drivers?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29972" y="9561319"/>
            <a:ext cx="1514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5328" y="1835926"/>
            <a:ext cx="14143831" cy="1600427"/>
            <a:chOff x="0" y="0"/>
            <a:chExt cx="17237649" cy="1950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237649" cy="1950466"/>
            </a:xfrm>
            <a:custGeom>
              <a:avLst/>
              <a:gdLst/>
              <a:ahLst/>
              <a:cxnLst/>
              <a:rect r="r" b="b" t="t" l="l"/>
              <a:pathLst>
                <a:path h="1950466" w="17237649">
                  <a:moveTo>
                    <a:pt x="975233" y="0"/>
                  </a:moveTo>
                  <a:lnTo>
                    <a:pt x="16262415" y="0"/>
                  </a:lnTo>
                  <a:cubicBezTo>
                    <a:pt x="16801023" y="0"/>
                    <a:pt x="17237649" y="436627"/>
                    <a:pt x="17237649" y="975233"/>
                  </a:cubicBezTo>
                  <a:lnTo>
                    <a:pt x="17237649" y="975233"/>
                  </a:lnTo>
                  <a:cubicBezTo>
                    <a:pt x="17237649" y="1513839"/>
                    <a:pt x="16801023" y="1950466"/>
                    <a:pt x="16262415" y="1950466"/>
                  </a:cubicBezTo>
                  <a:lnTo>
                    <a:pt x="975233" y="1950466"/>
                  </a:lnTo>
                  <a:cubicBezTo>
                    <a:pt x="436627" y="1950466"/>
                    <a:pt x="0" y="1513839"/>
                    <a:pt x="0" y="975233"/>
                  </a:cubicBezTo>
                  <a:lnTo>
                    <a:pt x="0" y="975233"/>
                  </a:lnTo>
                  <a:cubicBezTo>
                    <a:pt x="0" y="436627"/>
                    <a:pt x="436627" y="0"/>
                    <a:pt x="975233" y="0"/>
                  </a:cubicBezTo>
                  <a:close/>
                </a:path>
              </a:pathLst>
            </a:custGeom>
            <a:solidFill>
              <a:srgbClr val="8C5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35328" y="3835934"/>
            <a:ext cx="14143831" cy="1600427"/>
            <a:chOff x="0" y="0"/>
            <a:chExt cx="17237649" cy="1950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37649" cy="1950466"/>
            </a:xfrm>
            <a:custGeom>
              <a:avLst/>
              <a:gdLst/>
              <a:ahLst/>
              <a:cxnLst/>
              <a:rect r="r" b="b" t="t" l="l"/>
              <a:pathLst>
                <a:path h="1950466" w="17237649">
                  <a:moveTo>
                    <a:pt x="975233" y="0"/>
                  </a:moveTo>
                  <a:lnTo>
                    <a:pt x="16262415" y="0"/>
                  </a:lnTo>
                  <a:cubicBezTo>
                    <a:pt x="16801023" y="0"/>
                    <a:pt x="17237649" y="436627"/>
                    <a:pt x="17237649" y="975233"/>
                  </a:cubicBezTo>
                  <a:lnTo>
                    <a:pt x="17237649" y="975233"/>
                  </a:lnTo>
                  <a:cubicBezTo>
                    <a:pt x="17237649" y="1513839"/>
                    <a:pt x="16801023" y="1950466"/>
                    <a:pt x="16262415" y="1950466"/>
                  </a:cubicBezTo>
                  <a:lnTo>
                    <a:pt x="975233" y="1950466"/>
                  </a:lnTo>
                  <a:cubicBezTo>
                    <a:pt x="436627" y="1950466"/>
                    <a:pt x="0" y="1513839"/>
                    <a:pt x="0" y="975233"/>
                  </a:cubicBezTo>
                  <a:lnTo>
                    <a:pt x="0" y="975233"/>
                  </a:lnTo>
                  <a:cubicBezTo>
                    <a:pt x="0" y="436627"/>
                    <a:pt x="436627" y="0"/>
                    <a:pt x="975233" y="0"/>
                  </a:cubicBezTo>
                  <a:close/>
                </a:path>
              </a:pathLst>
            </a:custGeom>
            <a:solidFill>
              <a:srgbClr val="8C5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35328" y="5769820"/>
            <a:ext cx="14143831" cy="1600427"/>
            <a:chOff x="0" y="0"/>
            <a:chExt cx="17237649" cy="19505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237649" cy="1950466"/>
            </a:xfrm>
            <a:custGeom>
              <a:avLst/>
              <a:gdLst/>
              <a:ahLst/>
              <a:cxnLst/>
              <a:rect r="r" b="b" t="t" l="l"/>
              <a:pathLst>
                <a:path h="1950466" w="17237649">
                  <a:moveTo>
                    <a:pt x="975233" y="0"/>
                  </a:moveTo>
                  <a:lnTo>
                    <a:pt x="16262415" y="0"/>
                  </a:lnTo>
                  <a:cubicBezTo>
                    <a:pt x="16801023" y="0"/>
                    <a:pt x="17237649" y="436627"/>
                    <a:pt x="17237649" y="975233"/>
                  </a:cubicBezTo>
                  <a:lnTo>
                    <a:pt x="17237649" y="975233"/>
                  </a:lnTo>
                  <a:cubicBezTo>
                    <a:pt x="17237649" y="1513839"/>
                    <a:pt x="16801023" y="1950466"/>
                    <a:pt x="16262415" y="1950466"/>
                  </a:cubicBezTo>
                  <a:lnTo>
                    <a:pt x="975233" y="1950466"/>
                  </a:lnTo>
                  <a:cubicBezTo>
                    <a:pt x="436627" y="1950466"/>
                    <a:pt x="0" y="1513839"/>
                    <a:pt x="0" y="975233"/>
                  </a:cubicBezTo>
                  <a:lnTo>
                    <a:pt x="0" y="975233"/>
                  </a:lnTo>
                  <a:cubicBezTo>
                    <a:pt x="0" y="436627"/>
                    <a:pt x="436627" y="0"/>
                    <a:pt x="975233" y="0"/>
                  </a:cubicBezTo>
                  <a:close/>
                </a:path>
              </a:pathLst>
            </a:custGeom>
            <a:solidFill>
              <a:srgbClr val="8C5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635328" y="7703717"/>
            <a:ext cx="14143831" cy="1600427"/>
            <a:chOff x="0" y="0"/>
            <a:chExt cx="17237649" cy="1950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237649" cy="1950466"/>
            </a:xfrm>
            <a:custGeom>
              <a:avLst/>
              <a:gdLst/>
              <a:ahLst/>
              <a:cxnLst/>
              <a:rect r="r" b="b" t="t" l="l"/>
              <a:pathLst>
                <a:path h="1950466" w="17237649">
                  <a:moveTo>
                    <a:pt x="975233" y="0"/>
                  </a:moveTo>
                  <a:lnTo>
                    <a:pt x="16262415" y="0"/>
                  </a:lnTo>
                  <a:cubicBezTo>
                    <a:pt x="16801023" y="0"/>
                    <a:pt x="17237649" y="436627"/>
                    <a:pt x="17237649" y="975233"/>
                  </a:cubicBezTo>
                  <a:lnTo>
                    <a:pt x="17237649" y="975233"/>
                  </a:lnTo>
                  <a:cubicBezTo>
                    <a:pt x="17237649" y="1513839"/>
                    <a:pt x="16801023" y="1950466"/>
                    <a:pt x="16262415" y="1950466"/>
                  </a:cubicBezTo>
                  <a:lnTo>
                    <a:pt x="975233" y="1950466"/>
                  </a:lnTo>
                  <a:cubicBezTo>
                    <a:pt x="436627" y="1950466"/>
                    <a:pt x="0" y="1513839"/>
                    <a:pt x="0" y="975233"/>
                  </a:cubicBezTo>
                  <a:lnTo>
                    <a:pt x="0" y="975233"/>
                  </a:lnTo>
                  <a:cubicBezTo>
                    <a:pt x="0" y="436627"/>
                    <a:pt x="436627" y="0"/>
                    <a:pt x="975233" y="0"/>
                  </a:cubicBezTo>
                  <a:close/>
                </a:path>
              </a:pathLst>
            </a:custGeom>
            <a:solidFill>
              <a:srgbClr val="8C5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19200" y="11337722"/>
            <a:ext cx="15849600" cy="1462878"/>
            <a:chOff x="0" y="0"/>
            <a:chExt cx="21132800" cy="1950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132800" cy="1950466"/>
            </a:xfrm>
            <a:custGeom>
              <a:avLst/>
              <a:gdLst/>
              <a:ahLst/>
              <a:cxnLst/>
              <a:rect r="r" b="b" t="t" l="l"/>
              <a:pathLst>
                <a:path h="1950466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950466"/>
                  </a:lnTo>
                  <a:lnTo>
                    <a:pt x="0" y="195046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19200" y="13105409"/>
            <a:ext cx="15849600" cy="1462878"/>
            <a:chOff x="0" y="0"/>
            <a:chExt cx="21132800" cy="19505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32800" cy="1950466"/>
            </a:xfrm>
            <a:custGeom>
              <a:avLst/>
              <a:gdLst/>
              <a:ahLst/>
              <a:cxnLst/>
              <a:rect r="r" b="b" t="t" l="l"/>
              <a:pathLst>
                <a:path h="1950466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950466"/>
                  </a:lnTo>
                  <a:lnTo>
                    <a:pt x="0" y="195046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19200" y="14873087"/>
            <a:ext cx="15849600" cy="1462878"/>
            <a:chOff x="0" y="0"/>
            <a:chExt cx="21132800" cy="19505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132800" cy="1950466"/>
            </a:xfrm>
            <a:custGeom>
              <a:avLst/>
              <a:gdLst/>
              <a:ahLst/>
              <a:cxnLst/>
              <a:rect r="r" b="b" t="t" l="l"/>
              <a:pathLst>
                <a:path h="1950466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950466"/>
                  </a:lnTo>
                  <a:lnTo>
                    <a:pt x="0" y="195046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02208" y="588664"/>
            <a:ext cx="3849688" cy="84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8 Core KPIs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3108885" y="2177325"/>
            <a:ext cx="13871834" cy="38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169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KPI #1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3108885" y="2583318"/>
            <a:ext cx="13871834" cy="6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Avg Wait Time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3108885" y="4111211"/>
            <a:ext cx="13871834" cy="38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169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KPI #2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3108885" y="4574355"/>
            <a:ext cx="13871834" cy="6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Satisfaction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-3108885" y="6045961"/>
            <a:ext cx="13871834" cy="38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169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KPI #3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-2920148" y="6484309"/>
            <a:ext cx="13871834" cy="6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% Over 30-min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-3108885" y="8056047"/>
            <a:ext cx="13871834" cy="38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169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KPI #4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-2650523" y="8531540"/>
            <a:ext cx="13871834" cy="6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Treatment Duration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51896" y="2118032"/>
            <a:ext cx="13871834" cy="38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169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KPI #5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51896" y="2583318"/>
            <a:ext cx="13871834" cy="6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Patient Volume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71600" y="11585372"/>
            <a:ext cx="15544800" cy="37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KPI #6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1600" y="11886209"/>
            <a:ext cx="15544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Doctor Util.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1600" y="13353059"/>
            <a:ext cx="15544800" cy="37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KPI #7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1600" y="13653887"/>
            <a:ext cx="15544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No-Show 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1600" y="15120737"/>
            <a:ext cx="15544800" cy="37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KPI #8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1600" y="15421566"/>
            <a:ext cx="15544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Complaint 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529972" y="9561319"/>
            <a:ext cx="1514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4751896" y="4085322"/>
            <a:ext cx="13871834" cy="38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169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KPI #6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51896" y="6045961"/>
            <a:ext cx="13871834" cy="38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169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KPI #7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751896" y="8056047"/>
            <a:ext cx="13871834" cy="38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sz="2169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KPI #8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751896" y="4576498"/>
            <a:ext cx="13871834" cy="6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Doctor Utiliz</a:t>
            </a:r>
            <a:r>
              <a:rPr lang="en-US" sz="3482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ation Rate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751896" y="6484309"/>
            <a:ext cx="13871834" cy="6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No-Show</a:t>
            </a:r>
            <a:r>
              <a:rPr lang="en-US" sz="3482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Rate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751896" y="8464184"/>
            <a:ext cx="13871834" cy="60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sz="3482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Complaint</a:t>
            </a:r>
            <a:r>
              <a:rPr lang="en-US" sz="3482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Rate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2708" y="1000125"/>
            <a:ext cx="7659688" cy="84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Data Preparation &amp; ETL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2708" y="3016081"/>
            <a:ext cx="7359087" cy="56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0"/>
              </a:lnSpc>
            </a:pPr>
            <a:r>
              <a:rPr lang="en-US" sz="3525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Cleaning Steps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86091" y="3806598"/>
            <a:ext cx="6698088" cy="4282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6941" indent="-458470" lvl="1">
              <a:lnSpc>
                <a:spcPts val="6840"/>
              </a:lnSpc>
              <a:buFont typeface="Arial"/>
              <a:buChar char="•"/>
            </a:pPr>
            <a:r>
              <a:rPr lang="en-US" sz="3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Removed 532 null records</a:t>
            </a:r>
          </a:p>
          <a:p>
            <a:pPr algn="l" marL="916941" indent="-458470" lvl="1">
              <a:lnSpc>
                <a:spcPts val="6840"/>
              </a:lnSpc>
              <a:buFont typeface="Arial"/>
              <a:buChar char="•"/>
            </a:pPr>
            <a:r>
              <a:rPr lang="en-US" sz="3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Removed 123 duplicates</a:t>
            </a:r>
          </a:p>
          <a:p>
            <a:pPr algn="l" marL="916941" indent="-458470" lvl="1">
              <a:lnSpc>
                <a:spcPts val="6840"/>
              </a:lnSpc>
              <a:buFont typeface="Arial"/>
              <a:buChar char="•"/>
            </a:pPr>
            <a:r>
              <a:rPr lang="en-US" sz="3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Filtered outliers (&gt;180 min wait)</a:t>
            </a:r>
          </a:p>
          <a:p>
            <a:pPr algn="l" marL="916941" indent="-458470" lvl="1">
              <a:lnSpc>
                <a:spcPts val="6840"/>
              </a:lnSpc>
              <a:buFont typeface="Arial"/>
              <a:buChar char="•"/>
            </a:pPr>
            <a:r>
              <a:rPr lang="en-US" sz="3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Standardized data types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27750" y="3029526"/>
            <a:ext cx="7382216" cy="552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9"/>
              </a:lnSpc>
            </a:pPr>
            <a:r>
              <a:rPr lang="en-US" sz="3549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Data Sources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51022" y="3806598"/>
            <a:ext cx="7430350" cy="341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6941" indent="-458470" lvl="1">
              <a:lnSpc>
                <a:spcPts val="6840"/>
              </a:lnSpc>
              <a:buFont typeface="Arial"/>
              <a:buChar char="•"/>
            </a:pPr>
            <a:r>
              <a:rPr lang="en-US" sz="3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Healthcare dataset</a:t>
            </a:r>
          </a:p>
          <a:p>
            <a:pPr algn="l" marL="916941" indent="-458470" lvl="1">
              <a:lnSpc>
                <a:spcPts val="6840"/>
              </a:lnSpc>
              <a:buFont typeface="Arial"/>
              <a:buChar char="•"/>
            </a:pPr>
            <a:r>
              <a:rPr lang="en-US" sz="3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Appointment records</a:t>
            </a:r>
          </a:p>
          <a:p>
            <a:pPr algn="l" marL="916941" indent="-458470" lvl="1">
              <a:lnSpc>
                <a:spcPts val="6840"/>
              </a:lnSpc>
              <a:buFont typeface="Arial"/>
              <a:buChar char="•"/>
            </a:pPr>
            <a:r>
              <a:rPr lang="en-US" sz="3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Satisfaction audit</a:t>
            </a:r>
          </a:p>
          <a:p>
            <a:pPr algn="l" marL="916941" indent="-458470" lvl="1">
              <a:lnSpc>
                <a:spcPts val="6840"/>
              </a:lnSpc>
              <a:buFont typeface="Arial"/>
              <a:buChar char="•"/>
            </a:pPr>
            <a:r>
              <a:rPr lang="en-US" sz="38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Merged on index key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10760669"/>
            <a:ext cx="2980839" cy="577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Output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28800" y="11518697"/>
            <a:ext cx="2312794" cy="272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780"/>
              </a:lnSpc>
              <a:buFont typeface="Arial"/>
              <a:buChar char="•"/>
            </a:pPr>
            <a:r>
              <a:rPr lang="en-US" sz="2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32,778 clean visits</a:t>
            </a:r>
          </a:p>
          <a:p>
            <a:pPr algn="l" marL="506730" indent="-253365" lvl="1">
              <a:lnSpc>
                <a:spcPts val="3780"/>
              </a:lnSpc>
              <a:buFont typeface="Arial"/>
              <a:buChar char="•"/>
            </a:pPr>
            <a:r>
              <a:rPr lang="en-US" sz="2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16 final columns</a:t>
            </a:r>
          </a:p>
          <a:p>
            <a:pPr algn="l" marL="506730" indent="-253365" lvl="1">
              <a:lnSpc>
                <a:spcPts val="3780"/>
              </a:lnSpc>
              <a:buFont typeface="Arial"/>
              <a:buChar char="•"/>
            </a:pPr>
            <a:r>
              <a:rPr lang="en-US" sz="2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Ready for modeling</a:t>
            </a:r>
          </a:p>
          <a:p>
            <a:pPr algn="l" marL="506730" indent="-253365" lvl="1">
              <a:lnSpc>
                <a:spcPts val="3780"/>
              </a:lnSpc>
              <a:buFont typeface="Arial"/>
              <a:buChar char="•"/>
            </a:pPr>
            <a:r>
              <a:rPr lang="en-US" sz="2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Full data dictionary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9972" y="9561319"/>
            <a:ext cx="1514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AutoShape 10" id="10"/>
          <p:cNvSpPr/>
          <p:nvPr/>
        </p:nvSpPr>
        <p:spPr>
          <a:xfrm flipV="true">
            <a:off x="8939772" y="2766060"/>
            <a:ext cx="0" cy="649224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9639" y="4047519"/>
            <a:ext cx="3044983" cy="2991802"/>
            <a:chOff x="0" y="0"/>
            <a:chExt cx="3810000" cy="37434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10000" cy="3743496"/>
            </a:xfrm>
            <a:custGeom>
              <a:avLst/>
              <a:gdLst/>
              <a:ahLst/>
              <a:cxnLst/>
              <a:rect r="r" b="b" t="t" l="l"/>
              <a:pathLst>
                <a:path h="3743496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743496"/>
                  </a:lnTo>
                  <a:lnTo>
                    <a:pt x="0" y="374349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5774219" y="4047519"/>
            <a:ext cx="3044983" cy="2991802"/>
            <a:chOff x="0" y="0"/>
            <a:chExt cx="3810000" cy="37434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3743496"/>
            </a:xfrm>
            <a:custGeom>
              <a:avLst/>
              <a:gdLst/>
              <a:ahLst/>
              <a:cxnLst/>
              <a:rect r="r" b="b" t="t" l="l"/>
              <a:pathLst>
                <a:path h="3743496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743496"/>
                  </a:lnTo>
                  <a:lnTo>
                    <a:pt x="0" y="374349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468798" y="4047519"/>
            <a:ext cx="3044983" cy="2991802"/>
            <a:chOff x="0" y="0"/>
            <a:chExt cx="3810000" cy="37434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10000" cy="3743496"/>
            </a:xfrm>
            <a:custGeom>
              <a:avLst/>
              <a:gdLst/>
              <a:ahLst/>
              <a:cxnLst/>
              <a:rect r="r" b="b" t="t" l="l"/>
              <a:pathLst>
                <a:path h="3743496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743496"/>
                  </a:lnTo>
                  <a:lnTo>
                    <a:pt x="0" y="374349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163378" y="4047519"/>
            <a:ext cx="3044983" cy="2991802"/>
            <a:chOff x="0" y="0"/>
            <a:chExt cx="3810000" cy="37434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3743496"/>
            </a:xfrm>
            <a:custGeom>
              <a:avLst/>
              <a:gdLst/>
              <a:ahLst/>
              <a:cxnLst/>
              <a:rect r="r" b="b" t="t" l="l"/>
              <a:pathLst>
                <a:path h="3743496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743496"/>
                  </a:lnTo>
                  <a:lnTo>
                    <a:pt x="0" y="374349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19200" y="1190625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Star Schema Design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0352" y="2972605"/>
            <a:ext cx="17227296" cy="533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Central Fact Table: </a:t>
            </a:r>
            <a:r>
              <a:rPr lang="en-US" sz="3000" b="true">
                <a:solidFill>
                  <a:srgbClr val="CBD5E1"/>
                </a:solidFill>
                <a:latin typeface="Arial Bold"/>
                <a:ea typeface="Arial Bold"/>
                <a:cs typeface="Arial Bold"/>
                <a:sym typeface="Arial Bold"/>
              </a:rPr>
              <a:t>fact_visit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26334" y="4506142"/>
            <a:ext cx="2351595" cy="52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dim_patient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66837" y="4926664"/>
            <a:ext cx="2070588" cy="175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Age group, Condition, Name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39388" y="4506142"/>
            <a:ext cx="2514644" cy="52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dim_doctors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73908" y="4926664"/>
            <a:ext cx="3042416" cy="175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Doctor ID, Name, Specialization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05590" y="4553811"/>
            <a:ext cx="3268521" cy="476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dim_appointment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83851" y="5217154"/>
            <a:ext cx="2112000" cy="117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Date, Day, Time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31385" y="4506142"/>
            <a:ext cx="1908969" cy="52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33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dim_hour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50575" y="4926664"/>
            <a:ext cx="2070588" cy="1754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Hour ID, Appointment Hour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2676" y="7747793"/>
            <a:ext cx="17227296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Enables analysis by patient, doctor, time, condition, and hour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529972" y="9561319"/>
            <a:ext cx="1514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39584" y="2295330"/>
            <a:ext cx="14325825" cy="1666608"/>
            <a:chOff x="0" y="0"/>
            <a:chExt cx="21132800" cy="2458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800" cy="2458466"/>
            </a:xfrm>
            <a:custGeom>
              <a:avLst/>
              <a:gdLst/>
              <a:ahLst/>
              <a:cxnLst/>
              <a:rect r="r" b="b" t="t" l="l"/>
              <a:pathLst>
                <a:path h="2458466" w="21132800">
                  <a:moveTo>
                    <a:pt x="702542" y="0"/>
                  </a:moveTo>
                  <a:lnTo>
                    <a:pt x="20430258" y="0"/>
                  </a:lnTo>
                  <a:cubicBezTo>
                    <a:pt x="20616583" y="0"/>
                    <a:pt x="20795278" y="74018"/>
                    <a:pt x="20927030" y="205770"/>
                  </a:cubicBezTo>
                  <a:cubicBezTo>
                    <a:pt x="21058783" y="337522"/>
                    <a:pt x="21132800" y="516216"/>
                    <a:pt x="21132800" y="702542"/>
                  </a:cubicBezTo>
                  <a:lnTo>
                    <a:pt x="21132800" y="1755924"/>
                  </a:lnTo>
                  <a:cubicBezTo>
                    <a:pt x="21132800" y="1942250"/>
                    <a:pt x="21058783" y="2120944"/>
                    <a:pt x="20927030" y="2252696"/>
                  </a:cubicBezTo>
                  <a:cubicBezTo>
                    <a:pt x="20795278" y="2384448"/>
                    <a:pt x="20616583" y="2458466"/>
                    <a:pt x="20430258" y="2458466"/>
                  </a:cubicBezTo>
                  <a:lnTo>
                    <a:pt x="702542" y="2458466"/>
                  </a:lnTo>
                  <a:cubicBezTo>
                    <a:pt x="516216" y="2458466"/>
                    <a:pt x="337522" y="2384448"/>
                    <a:pt x="205770" y="2252696"/>
                  </a:cubicBezTo>
                  <a:cubicBezTo>
                    <a:pt x="74018" y="2120944"/>
                    <a:pt x="0" y="1942250"/>
                    <a:pt x="0" y="1755924"/>
                  </a:cubicBezTo>
                  <a:lnTo>
                    <a:pt x="0" y="702542"/>
                  </a:lnTo>
                  <a:cubicBezTo>
                    <a:pt x="0" y="516216"/>
                    <a:pt x="74018" y="337522"/>
                    <a:pt x="205770" y="205770"/>
                  </a:cubicBezTo>
                  <a:cubicBezTo>
                    <a:pt x="337522" y="74018"/>
                    <a:pt x="516216" y="0"/>
                    <a:pt x="702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139584" y="4375183"/>
            <a:ext cx="14325825" cy="1666608"/>
            <a:chOff x="0" y="0"/>
            <a:chExt cx="21132800" cy="2458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800" cy="2458466"/>
            </a:xfrm>
            <a:custGeom>
              <a:avLst/>
              <a:gdLst/>
              <a:ahLst/>
              <a:cxnLst/>
              <a:rect r="r" b="b" t="t" l="l"/>
              <a:pathLst>
                <a:path h="2458466" w="21132800">
                  <a:moveTo>
                    <a:pt x="702542" y="0"/>
                  </a:moveTo>
                  <a:lnTo>
                    <a:pt x="20430258" y="0"/>
                  </a:lnTo>
                  <a:cubicBezTo>
                    <a:pt x="20616583" y="0"/>
                    <a:pt x="20795278" y="74018"/>
                    <a:pt x="20927030" y="205770"/>
                  </a:cubicBezTo>
                  <a:cubicBezTo>
                    <a:pt x="21058783" y="337522"/>
                    <a:pt x="21132800" y="516216"/>
                    <a:pt x="21132800" y="702542"/>
                  </a:cubicBezTo>
                  <a:lnTo>
                    <a:pt x="21132800" y="1755924"/>
                  </a:lnTo>
                  <a:cubicBezTo>
                    <a:pt x="21132800" y="1942250"/>
                    <a:pt x="21058783" y="2120944"/>
                    <a:pt x="20927030" y="2252696"/>
                  </a:cubicBezTo>
                  <a:cubicBezTo>
                    <a:pt x="20795278" y="2384448"/>
                    <a:pt x="20616583" y="2458466"/>
                    <a:pt x="20430258" y="2458466"/>
                  </a:cubicBezTo>
                  <a:lnTo>
                    <a:pt x="702542" y="2458466"/>
                  </a:lnTo>
                  <a:cubicBezTo>
                    <a:pt x="516216" y="2458466"/>
                    <a:pt x="337522" y="2384448"/>
                    <a:pt x="205770" y="2252696"/>
                  </a:cubicBezTo>
                  <a:cubicBezTo>
                    <a:pt x="74018" y="2120944"/>
                    <a:pt x="0" y="1942250"/>
                    <a:pt x="0" y="1755924"/>
                  </a:cubicBezTo>
                  <a:lnTo>
                    <a:pt x="0" y="702542"/>
                  </a:lnTo>
                  <a:cubicBezTo>
                    <a:pt x="0" y="516216"/>
                    <a:pt x="74018" y="337522"/>
                    <a:pt x="205770" y="205770"/>
                  </a:cubicBezTo>
                  <a:cubicBezTo>
                    <a:pt x="337522" y="74018"/>
                    <a:pt x="516216" y="0"/>
                    <a:pt x="702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139584" y="6455036"/>
            <a:ext cx="14325825" cy="1666608"/>
            <a:chOff x="0" y="0"/>
            <a:chExt cx="21132800" cy="24585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32800" cy="2458466"/>
            </a:xfrm>
            <a:custGeom>
              <a:avLst/>
              <a:gdLst/>
              <a:ahLst/>
              <a:cxnLst/>
              <a:rect r="r" b="b" t="t" l="l"/>
              <a:pathLst>
                <a:path h="2458466" w="21132800">
                  <a:moveTo>
                    <a:pt x="702542" y="0"/>
                  </a:moveTo>
                  <a:lnTo>
                    <a:pt x="20430258" y="0"/>
                  </a:lnTo>
                  <a:cubicBezTo>
                    <a:pt x="20616583" y="0"/>
                    <a:pt x="20795278" y="74018"/>
                    <a:pt x="20927030" y="205770"/>
                  </a:cubicBezTo>
                  <a:cubicBezTo>
                    <a:pt x="21058783" y="337522"/>
                    <a:pt x="21132800" y="516216"/>
                    <a:pt x="21132800" y="702542"/>
                  </a:cubicBezTo>
                  <a:lnTo>
                    <a:pt x="21132800" y="1755924"/>
                  </a:lnTo>
                  <a:cubicBezTo>
                    <a:pt x="21132800" y="1942250"/>
                    <a:pt x="21058783" y="2120944"/>
                    <a:pt x="20927030" y="2252696"/>
                  </a:cubicBezTo>
                  <a:cubicBezTo>
                    <a:pt x="20795278" y="2384448"/>
                    <a:pt x="20616583" y="2458466"/>
                    <a:pt x="20430258" y="2458466"/>
                  </a:cubicBezTo>
                  <a:lnTo>
                    <a:pt x="702542" y="2458466"/>
                  </a:lnTo>
                  <a:cubicBezTo>
                    <a:pt x="516216" y="2458466"/>
                    <a:pt x="337522" y="2384448"/>
                    <a:pt x="205770" y="2252696"/>
                  </a:cubicBezTo>
                  <a:cubicBezTo>
                    <a:pt x="74018" y="2120944"/>
                    <a:pt x="0" y="1942250"/>
                    <a:pt x="0" y="1755924"/>
                  </a:cubicBezTo>
                  <a:lnTo>
                    <a:pt x="0" y="702542"/>
                  </a:lnTo>
                  <a:cubicBezTo>
                    <a:pt x="0" y="516216"/>
                    <a:pt x="74018" y="337522"/>
                    <a:pt x="205770" y="205770"/>
                  </a:cubicBezTo>
                  <a:cubicBezTo>
                    <a:pt x="337522" y="74018"/>
                    <a:pt x="516216" y="0"/>
                    <a:pt x="702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2139584" y="8397150"/>
            <a:ext cx="14325825" cy="1666608"/>
            <a:chOff x="0" y="0"/>
            <a:chExt cx="21132800" cy="24585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132800" cy="2458466"/>
            </a:xfrm>
            <a:custGeom>
              <a:avLst/>
              <a:gdLst/>
              <a:ahLst/>
              <a:cxnLst/>
              <a:rect r="r" b="b" t="t" l="l"/>
              <a:pathLst>
                <a:path h="2458466" w="21132800">
                  <a:moveTo>
                    <a:pt x="702542" y="0"/>
                  </a:moveTo>
                  <a:lnTo>
                    <a:pt x="20430258" y="0"/>
                  </a:lnTo>
                  <a:cubicBezTo>
                    <a:pt x="20616583" y="0"/>
                    <a:pt x="20795278" y="74018"/>
                    <a:pt x="20927030" y="205770"/>
                  </a:cubicBezTo>
                  <a:cubicBezTo>
                    <a:pt x="21058783" y="337522"/>
                    <a:pt x="21132800" y="516216"/>
                    <a:pt x="21132800" y="702542"/>
                  </a:cubicBezTo>
                  <a:lnTo>
                    <a:pt x="21132800" y="1755924"/>
                  </a:lnTo>
                  <a:cubicBezTo>
                    <a:pt x="21132800" y="1942250"/>
                    <a:pt x="21058783" y="2120944"/>
                    <a:pt x="20927030" y="2252696"/>
                  </a:cubicBezTo>
                  <a:cubicBezTo>
                    <a:pt x="20795278" y="2384448"/>
                    <a:pt x="20616583" y="2458466"/>
                    <a:pt x="20430258" y="2458466"/>
                  </a:cubicBezTo>
                  <a:lnTo>
                    <a:pt x="702542" y="2458466"/>
                  </a:lnTo>
                  <a:cubicBezTo>
                    <a:pt x="516216" y="2458466"/>
                    <a:pt x="337522" y="2384448"/>
                    <a:pt x="205770" y="2252696"/>
                  </a:cubicBezTo>
                  <a:cubicBezTo>
                    <a:pt x="74018" y="2120944"/>
                    <a:pt x="0" y="1942250"/>
                    <a:pt x="0" y="1755924"/>
                  </a:cubicBezTo>
                  <a:lnTo>
                    <a:pt x="0" y="702542"/>
                  </a:lnTo>
                  <a:cubicBezTo>
                    <a:pt x="0" y="516216"/>
                    <a:pt x="74018" y="337522"/>
                    <a:pt x="205770" y="205770"/>
                  </a:cubicBezTo>
                  <a:cubicBezTo>
                    <a:pt x="337522" y="74018"/>
                    <a:pt x="516216" y="0"/>
                    <a:pt x="70254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4AAD">
                    <a:alpha val="100000"/>
                  </a:srgbClr>
                </a:gs>
                <a:gs pos="100000">
                  <a:srgbClr val="CB6CE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19200" y="11551244"/>
            <a:ext cx="15849600" cy="1843878"/>
            <a:chOff x="0" y="0"/>
            <a:chExt cx="21132800" cy="2458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132800" cy="2458466"/>
            </a:xfrm>
            <a:custGeom>
              <a:avLst/>
              <a:gdLst/>
              <a:ahLst/>
              <a:cxnLst/>
              <a:rect r="r" b="b" t="t" l="l"/>
              <a:pathLst>
                <a:path h="2458466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2458466"/>
                  </a:lnTo>
                  <a:lnTo>
                    <a:pt x="0" y="245846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19200" y="13852322"/>
            <a:ext cx="15849600" cy="1843878"/>
            <a:chOff x="0" y="0"/>
            <a:chExt cx="21132800" cy="24585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32800" cy="2458466"/>
            </a:xfrm>
            <a:custGeom>
              <a:avLst/>
              <a:gdLst/>
              <a:ahLst/>
              <a:cxnLst/>
              <a:rect r="r" b="b" t="t" l="l"/>
              <a:pathLst>
                <a:path h="2458466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2458466"/>
                  </a:lnTo>
                  <a:lnTo>
                    <a:pt x="0" y="2458466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19200" y="1190625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DAX Measures (Sample)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52829" y="2689525"/>
            <a:ext cx="3421283" cy="504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3"/>
              </a:lnSpc>
            </a:pPr>
            <a:r>
              <a:rPr lang="en-US" sz="3211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Avg Waiting Time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52829" y="3211943"/>
            <a:ext cx="13769321" cy="36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7"/>
              </a:lnSpc>
            </a:pPr>
            <a:r>
              <a:rPr lang="en-US" sz="2126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AVERAGE(fact_visit[waiting_time])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52829" y="4769378"/>
            <a:ext cx="3195285" cy="504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3"/>
              </a:lnSpc>
            </a:pPr>
            <a:r>
              <a:rPr lang="en-US" sz="3211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Avg Satisfaction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52829" y="5291796"/>
            <a:ext cx="13769321" cy="36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7"/>
              </a:lnSpc>
            </a:pPr>
            <a:r>
              <a:rPr lang="en-US" sz="2126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AVERAGE(fact_visit[Satisfaction])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552829" y="6849231"/>
            <a:ext cx="5303243" cy="99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3"/>
              </a:lnSpc>
            </a:pPr>
            <a:r>
              <a:rPr lang="en-US" sz="3211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% Exceeding 30-min Target</a:t>
            </a:r>
          </a:p>
          <a:p>
            <a:pPr algn="l">
              <a:lnSpc>
                <a:spcPts val="385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552829" y="7371649"/>
            <a:ext cx="13769321" cy="736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7"/>
              </a:lnSpc>
            </a:pPr>
            <a:r>
              <a:rPr lang="en-US" sz="2126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DIVIDE(COUNTIFS(fact_visit[waiting_time], "&gt;30"), COUNTA(fact_visit[appointment_id]), 0)*100</a:t>
            </a:r>
          </a:p>
          <a:p>
            <a:pPr algn="l">
              <a:lnSpc>
                <a:spcPts val="297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552829" y="8791345"/>
            <a:ext cx="3466813" cy="504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3"/>
              </a:lnSpc>
            </a:pPr>
            <a:r>
              <a:rPr lang="en-US" sz="3211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Complaint Rate 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76400" y="10259816"/>
            <a:ext cx="15233904" cy="37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DIVIDE(COUNTIF(Complaint=1), ...)*100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76400" y="11989394"/>
            <a:ext cx="1523390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Doctor Utilization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76400" y="12560894"/>
            <a:ext cx="15233904" cy="37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(SUM(duration)*100)/(doctors*480)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6400" y="14290472"/>
            <a:ext cx="1523390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Patient Volume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76400" y="14861972"/>
            <a:ext cx="15233904" cy="37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COUNTA(fact_visit[visit_id])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529972" y="9561319"/>
            <a:ext cx="1514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2552829" y="9327119"/>
            <a:ext cx="13769321" cy="736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7"/>
              </a:lnSpc>
            </a:pPr>
            <a:r>
              <a:rPr lang="en-US" sz="2126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DIVIDE(COUNTIF(fact_visit[Complaint], 1), COUNTA(fact_visit[appointment_id]), 0)*100</a:t>
            </a:r>
          </a:p>
          <a:p>
            <a:pPr algn="l">
              <a:lnSpc>
                <a:spcPts val="297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60225" y="1854994"/>
            <a:ext cx="12828469" cy="1723313"/>
            <a:chOff x="0" y="0"/>
            <a:chExt cx="21200529" cy="2847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3909" y="33909"/>
              <a:ext cx="21132801" cy="2780157"/>
            </a:xfrm>
            <a:custGeom>
              <a:avLst/>
              <a:gdLst/>
              <a:ahLst/>
              <a:cxnLst/>
              <a:rect r="r" b="b" t="t" l="l"/>
              <a:pathLst>
                <a:path h="2780157" w="21132801">
                  <a:moveTo>
                    <a:pt x="0" y="0"/>
                  </a:moveTo>
                  <a:lnTo>
                    <a:pt x="21132801" y="0"/>
                  </a:lnTo>
                  <a:lnTo>
                    <a:pt x="21132801" y="2780157"/>
                  </a:lnTo>
                  <a:lnTo>
                    <a:pt x="0" y="2780157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200618" cy="2847975"/>
            </a:xfrm>
            <a:custGeom>
              <a:avLst/>
              <a:gdLst/>
              <a:ahLst/>
              <a:cxnLst/>
              <a:rect r="r" b="b" t="t" l="l"/>
              <a:pathLst>
                <a:path h="2847975" w="21200618">
                  <a:moveTo>
                    <a:pt x="33909" y="0"/>
                  </a:moveTo>
                  <a:lnTo>
                    <a:pt x="21166710" y="0"/>
                  </a:lnTo>
                  <a:cubicBezTo>
                    <a:pt x="21185378" y="0"/>
                    <a:pt x="21200618" y="15113"/>
                    <a:pt x="21200618" y="33909"/>
                  </a:cubicBezTo>
                  <a:lnTo>
                    <a:pt x="21200618" y="2814066"/>
                  </a:lnTo>
                  <a:cubicBezTo>
                    <a:pt x="21200618" y="2832735"/>
                    <a:pt x="21185505" y="2847975"/>
                    <a:pt x="21166710" y="2847975"/>
                  </a:cubicBezTo>
                  <a:lnTo>
                    <a:pt x="33909" y="2847975"/>
                  </a:lnTo>
                  <a:cubicBezTo>
                    <a:pt x="15240" y="2847975"/>
                    <a:pt x="0" y="2832862"/>
                    <a:pt x="0" y="2814066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814066"/>
                  </a:lnTo>
                  <a:lnTo>
                    <a:pt x="33909" y="2814066"/>
                  </a:lnTo>
                  <a:lnTo>
                    <a:pt x="33909" y="2780157"/>
                  </a:lnTo>
                  <a:lnTo>
                    <a:pt x="21166710" y="2780157"/>
                  </a:lnTo>
                  <a:lnTo>
                    <a:pt x="21166710" y="2814066"/>
                  </a:lnTo>
                  <a:lnTo>
                    <a:pt x="21132800" y="2814066"/>
                  </a:lnTo>
                  <a:lnTo>
                    <a:pt x="21132800" y="33909"/>
                  </a:lnTo>
                  <a:lnTo>
                    <a:pt x="21166710" y="33909"/>
                  </a:lnTo>
                  <a:lnTo>
                    <a:pt x="211667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38BDF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760225" y="3906186"/>
            <a:ext cx="12828469" cy="1723313"/>
            <a:chOff x="0" y="0"/>
            <a:chExt cx="21200529" cy="2847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3909" y="33909"/>
              <a:ext cx="21132801" cy="2780157"/>
            </a:xfrm>
            <a:custGeom>
              <a:avLst/>
              <a:gdLst/>
              <a:ahLst/>
              <a:cxnLst/>
              <a:rect r="r" b="b" t="t" l="l"/>
              <a:pathLst>
                <a:path h="2780157" w="21132801">
                  <a:moveTo>
                    <a:pt x="0" y="0"/>
                  </a:moveTo>
                  <a:lnTo>
                    <a:pt x="21132801" y="0"/>
                  </a:lnTo>
                  <a:lnTo>
                    <a:pt x="21132801" y="2780157"/>
                  </a:lnTo>
                  <a:lnTo>
                    <a:pt x="0" y="2780157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00618" cy="2847975"/>
            </a:xfrm>
            <a:custGeom>
              <a:avLst/>
              <a:gdLst/>
              <a:ahLst/>
              <a:cxnLst/>
              <a:rect r="r" b="b" t="t" l="l"/>
              <a:pathLst>
                <a:path h="2847975" w="21200618">
                  <a:moveTo>
                    <a:pt x="33909" y="0"/>
                  </a:moveTo>
                  <a:lnTo>
                    <a:pt x="21166710" y="0"/>
                  </a:lnTo>
                  <a:cubicBezTo>
                    <a:pt x="21185378" y="0"/>
                    <a:pt x="21200618" y="15113"/>
                    <a:pt x="21200618" y="33909"/>
                  </a:cubicBezTo>
                  <a:lnTo>
                    <a:pt x="21200618" y="2814066"/>
                  </a:lnTo>
                  <a:cubicBezTo>
                    <a:pt x="21200618" y="2832735"/>
                    <a:pt x="21185505" y="2847975"/>
                    <a:pt x="21166710" y="2847975"/>
                  </a:cubicBezTo>
                  <a:lnTo>
                    <a:pt x="33909" y="2847975"/>
                  </a:lnTo>
                  <a:cubicBezTo>
                    <a:pt x="15240" y="2847975"/>
                    <a:pt x="0" y="2832862"/>
                    <a:pt x="0" y="2814066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814066"/>
                  </a:lnTo>
                  <a:lnTo>
                    <a:pt x="33909" y="2814066"/>
                  </a:lnTo>
                  <a:lnTo>
                    <a:pt x="33909" y="2780157"/>
                  </a:lnTo>
                  <a:lnTo>
                    <a:pt x="21166710" y="2780157"/>
                  </a:lnTo>
                  <a:lnTo>
                    <a:pt x="21166710" y="2814066"/>
                  </a:lnTo>
                  <a:lnTo>
                    <a:pt x="21132800" y="2814066"/>
                  </a:lnTo>
                  <a:lnTo>
                    <a:pt x="21132800" y="33909"/>
                  </a:lnTo>
                  <a:lnTo>
                    <a:pt x="21166710" y="33909"/>
                  </a:lnTo>
                  <a:lnTo>
                    <a:pt x="211667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38BDF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760225" y="5957387"/>
            <a:ext cx="12828469" cy="1723313"/>
            <a:chOff x="0" y="0"/>
            <a:chExt cx="21200529" cy="28479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3909" y="33909"/>
              <a:ext cx="21132801" cy="2780157"/>
            </a:xfrm>
            <a:custGeom>
              <a:avLst/>
              <a:gdLst/>
              <a:ahLst/>
              <a:cxnLst/>
              <a:rect r="r" b="b" t="t" l="l"/>
              <a:pathLst>
                <a:path h="2780157" w="21132801">
                  <a:moveTo>
                    <a:pt x="0" y="0"/>
                  </a:moveTo>
                  <a:lnTo>
                    <a:pt x="21132801" y="0"/>
                  </a:lnTo>
                  <a:lnTo>
                    <a:pt x="21132801" y="2780157"/>
                  </a:lnTo>
                  <a:lnTo>
                    <a:pt x="0" y="2780157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00618" cy="2847975"/>
            </a:xfrm>
            <a:custGeom>
              <a:avLst/>
              <a:gdLst/>
              <a:ahLst/>
              <a:cxnLst/>
              <a:rect r="r" b="b" t="t" l="l"/>
              <a:pathLst>
                <a:path h="2847975" w="21200618">
                  <a:moveTo>
                    <a:pt x="33909" y="0"/>
                  </a:moveTo>
                  <a:lnTo>
                    <a:pt x="21166710" y="0"/>
                  </a:lnTo>
                  <a:cubicBezTo>
                    <a:pt x="21185378" y="0"/>
                    <a:pt x="21200618" y="15113"/>
                    <a:pt x="21200618" y="33909"/>
                  </a:cubicBezTo>
                  <a:lnTo>
                    <a:pt x="21200618" y="2814066"/>
                  </a:lnTo>
                  <a:cubicBezTo>
                    <a:pt x="21200618" y="2832735"/>
                    <a:pt x="21185505" y="2847975"/>
                    <a:pt x="21166710" y="2847975"/>
                  </a:cubicBezTo>
                  <a:lnTo>
                    <a:pt x="33909" y="2847975"/>
                  </a:lnTo>
                  <a:cubicBezTo>
                    <a:pt x="15240" y="2847975"/>
                    <a:pt x="0" y="2832862"/>
                    <a:pt x="0" y="2814066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814066"/>
                  </a:lnTo>
                  <a:lnTo>
                    <a:pt x="33909" y="2814066"/>
                  </a:lnTo>
                  <a:lnTo>
                    <a:pt x="33909" y="2780157"/>
                  </a:lnTo>
                  <a:lnTo>
                    <a:pt x="21166710" y="2780157"/>
                  </a:lnTo>
                  <a:lnTo>
                    <a:pt x="21166710" y="2814066"/>
                  </a:lnTo>
                  <a:lnTo>
                    <a:pt x="21132800" y="2814066"/>
                  </a:lnTo>
                  <a:lnTo>
                    <a:pt x="21132800" y="33909"/>
                  </a:lnTo>
                  <a:lnTo>
                    <a:pt x="21166710" y="33909"/>
                  </a:lnTo>
                  <a:lnTo>
                    <a:pt x="211667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38BDF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760225" y="7885630"/>
            <a:ext cx="12828469" cy="1723313"/>
            <a:chOff x="0" y="0"/>
            <a:chExt cx="21200529" cy="28479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909" y="33909"/>
              <a:ext cx="21132801" cy="2780157"/>
            </a:xfrm>
            <a:custGeom>
              <a:avLst/>
              <a:gdLst/>
              <a:ahLst/>
              <a:cxnLst/>
              <a:rect r="r" b="b" t="t" l="l"/>
              <a:pathLst>
                <a:path h="2780157" w="21132801">
                  <a:moveTo>
                    <a:pt x="0" y="0"/>
                  </a:moveTo>
                  <a:lnTo>
                    <a:pt x="21132801" y="0"/>
                  </a:lnTo>
                  <a:lnTo>
                    <a:pt x="21132801" y="2780157"/>
                  </a:lnTo>
                  <a:lnTo>
                    <a:pt x="0" y="2780157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00618" cy="2847975"/>
            </a:xfrm>
            <a:custGeom>
              <a:avLst/>
              <a:gdLst/>
              <a:ahLst/>
              <a:cxnLst/>
              <a:rect r="r" b="b" t="t" l="l"/>
              <a:pathLst>
                <a:path h="2847975" w="21200618">
                  <a:moveTo>
                    <a:pt x="33909" y="0"/>
                  </a:moveTo>
                  <a:lnTo>
                    <a:pt x="21166710" y="0"/>
                  </a:lnTo>
                  <a:cubicBezTo>
                    <a:pt x="21185378" y="0"/>
                    <a:pt x="21200618" y="15113"/>
                    <a:pt x="21200618" y="33909"/>
                  </a:cubicBezTo>
                  <a:lnTo>
                    <a:pt x="21200618" y="2814066"/>
                  </a:lnTo>
                  <a:cubicBezTo>
                    <a:pt x="21200618" y="2832735"/>
                    <a:pt x="21185505" y="2847975"/>
                    <a:pt x="21166710" y="2847975"/>
                  </a:cubicBezTo>
                  <a:lnTo>
                    <a:pt x="33909" y="2847975"/>
                  </a:lnTo>
                  <a:cubicBezTo>
                    <a:pt x="15240" y="2847975"/>
                    <a:pt x="0" y="2832862"/>
                    <a:pt x="0" y="2814066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814066"/>
                  </a:lnTo>
                  <a:lnTo>
                    <a:pt x="33909" y="2814066"/>
                  </a:lnTo>
                  <a:lnTo>
                    <a:pt x="33909" y="2780157"/>
                  </a:lnTo>
                  <a:lnTo>
                    <a:pt x="21166710" y="2780157"/>
                  </a:lnTo>
                  <a:lnTo>
                    <a:pt x="21166710" y="2814066"/>
                  </a:lnTo>
                  <a:lnTo>
                    <a:pt x="21132800" y="2814066"/>
                  </a:lnTo>
                  <a:lnTo>
                    <a:pt x="21132800" y="33909"/>
                  </a:lnTo>
                  <a:lnTo>
                    <a:pt x="21166710" y="33909"/>
                  </a:lnTo>
                  <a:lnTo>
                    <a:pt x="211667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38BDF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93797" y="12643447"/>
            <a:ext cx="15900397" cy="2135981"/>
            <a:chOff x="0" y="0"/>
            <a:chExt cx="21200529" cy="28479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3909" y="33909"/>
              <a:ext cx="21132801" cy="2780157"/>
            </a:xfrm>
            <a:custGeom>
              <a:avLst/>
              <a:gdLst/>
              <a:ahLst/>
              <a:cxnLst/>
              <a:rect r="r" b="b" t="t" l="l"/>
              <a:pathLst>
                <a:path h="2780157" w="21132801">
                  <a:moveTo>
                    <a:pt x="0" y="0"/>
                  </a:moveTo>
                  <a:lnTo>
                    <a:pt x="21132801" y="0"/>
                  </a:lnTo>
                  <a:lnTo>
                    <a:pt x="21132801" y="2780157"/>
                  </a:lnTo>
                  <a:lnTo>
                    <a:pt x="0" y="2780157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200618" cy="2847975"/>
            </a:xfrm>
            <a:custGeom>
              <a:avLst/>
              <a:gdLst/>
              <a:ahLst/>
              <a:cxnLst/>
              <a:rect r="r" b="b" t="t" l="l"/>
              <a:pathLst>
                <a:path h="2847975" w="21200618">
                  <a:moveTo>
                    <a:pt x="33909" y="0"/>
                  </a:moveTo>
                  <a:lnTo>
                    <a:pt x="21166710" y="0"/>
                  </a:lnTo>
                  <a:cubicBezTo>
                    <a:pt x="21185378" y="0"/>
                    <a:pt x="21200618" y="15113"/>
                    <a:pt x="21200618" y="33909"/>
                  </a:cubicBezTo>
                  <a:lnTo>
                    <a:pt x="21200618" y="2814066"/>
                  </a:lnTo>
                  <a:cubicBezTo>
                    <a:pt x="21200618" y="2832735"/>
                    <a:pt x="21185505" y="2847975"/>
                    <a:pt x="21166710" y="2847975"/>
                  </a:cubicBezTo>
                  <a:lnTo>
                    <a:pt x="33909" y="2847975"/>
                  </a:lnTo>
                  <a:cubicBezTo>
                    <a:pt x="15240" y="2847975"/>
                    <a:pt x="0" y="2832862"/>
                    <a:pt x="0" y="2814066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814066"/>
                  </a:lnTo>
                  <a:lnTo>
                    <a:pt x="33909" y="2814066"/>
                  </a:lnTo>
                  <a:lnTo>
                    <a:pt x="33909" y="2780157"/>
                  </a:lnTo>
                  <a:lnTo>
                    <a:pt x="21166710" y="2780157"/>
                  </a:lnTo>
                  <a:lnTo>
                    <a:pt x="21166710" y="2814066"/>
                  </a:lnTo>
                  <a:lnTo>
                    <a:pt x="21132800" y="2814066"/>
                  </a:lnTo>
                  <a:lnTo>
                    <a:pt x="21132800" y="33909"/>
                  </a:lnTo>
                  <a:lnTo>
                    <a:pt x="21166710" y="33909"/>
                  </a:lnTo>
                  <a:lnTo>
                    <a:pt x="211667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38BDF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93797" y="15185831"/>
            <a:ext cx="15900397" cy="2135981"/>
            <a:chOff x="0" y="0"/>
            <a:chExt cx="21200529" cy="28479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3909" y="33909"/>
              <a:ext cx="21132801" cy="2780157"/>
            </a:xfrm>
            <a:custGeom>
              <a:avLst/>
              <a:gdLst/>
              <a:ahLst/>
              <a:cxnLst/>
              <a:rect r="r" b="b" t="t" l="l"/>
              <a:pathLst>
                <a:path h="2780157" w="21132801">
                  <a:moveTo>
                    <a:pt x="0" y="0"/>
                  </a:moveTo>
                  <a:lnTo>
                    <a:pt x="21132801" y="0"/>
                  </a:lnTo>
                  <a:lnTo>
                    <a:pt x="21132801" y="2780157"/>
                  </a:lnTo>
                  <a:lnTo>
                    <a:pt x="0" y="2780157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200618" cy="2847975"/>
            </a:xfrm>
            <a:custGeom>
              <a:avLst/>
              <a:gdLst/>
              <a:ahLst/>
              <a:cxnLst/>
              <a:rect r="r" b="b" t="t" l="l"/>
              <a:pathLst>
                <a:path h="2847975" w="21200618">
                  <a:moveTo>
                    <a:pt x="33909" y="0"/>
                  </a:moveTo>
                  <a:lnTo>
                    <a:pt x="21166710" y="0"/>
                  </a:lnTo>
                  <a:cubicBezTo>
                    <a:pt x="21185378" y="0"/>
                    <a:pt x="21200618" y="15113"/>
                    <a:pt x="21200618" y="33909"/>
                  </a:cubicBezTo>
                  <a:lnTo>
                    <a:pt x="21200618" y="2814066"/>
                  </a:lnTo>
                  <a:cubicBezTo>
                    <a:pt x="21200618" y="2832735"/>
                    <a:pt x="21185505" y="2847975"/>
                    <a:pt x="21166710" y="2847975"/>
                  </a:cubicBezTo>
                  <a:lnTo>
                    <a:pt x="33909" y="2847975"/>
                  </a:lnTo>
                  <a:cubicBezTo>
                    <a:pt x="15240" y="2847975"/>
                    <a:pt x="0" y="2832862"/>
                    <a:pt x="0" y="2814066"/>
                  </a:cubicBezTo>
                  <a:lnTo>
                    <a:pt x="0" y="33909"/>
                  </a:lnTo>
                  <a:cubicBezTo>
                    <a:pt x="0" y="15113"/>
                    <a:pt x="15113" y="0"/>
                    <a:pt x="33909" y="0"/>
                  </a:cubicBezTo>
                  <a:moveTo>
                    <a:pt x="33909" y="67691"/>
                  </a:moveTo>
                  <a:lnTo>
                    <a:pt x="33909" y="33909"/>
                  </a:lnTo>
                  <a:lnTo>
                    <a:pt x="67691" y="33909"/>
                  </a:lnTo>
                  <a:lnTo>
                    <a:pt x="67691" y="2814066"/>
                  </a:lnTo>
                  <a:lnTo>
                    <a:pt x="33909" y="2814066"/>
                  </a:lnTo>
                  <a:lnTo>
                    <a:pt x="33909" y="2780157"/>
                  </a:lnTo>
                  <a:lnTo>
                    <a:pt x="21166710" y="2780157"/>
                  </a:lnTo>
                  <a:lnTo>
                    <a:pt x="21166710" y="2814066"/>
                  </a:lnTo>
                  <a:lnTo>
                    <a:pt x="21132800" y="2814066"/>
                  </a:lnTo>
                  <a:lnTo>
                    <a:pt x="21132800" y="33909"/>
                  </a:lnTo>
                  <a:lnTo>
                    <a:pt x="21166710" y="33909"/>
                  </a:lnTo>
                  <a:lnTo>
                    <a:pt x="21166710" y="67691"/>
                  </a:lnTo>
                  <a:lnTo>
                    <a:pt x="33909" y="67691"/>
                  </a:lnTo>
                  <a:close/>
                </a:path>
              </a:pathLst>
            </a:custGeom>
            <a:solidFill>
              <a:srgbClr val="38BDF8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594360" y="508006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Executive Summary Dashboard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60225" y="2104747"/>
            <a:ext cx="12290741" cy="52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sz="2952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Avg Waiting Time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29093" y="2419595"/>
            <a:ext cx="12290741" cy="89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2"/>
              </a:lnSpc>
            </a:pPr>
            <a:r>
              <a:rPr lang="en-US" sz="513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41.96 min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60225" y="4089273"/>
            <a:ext cx="12290741" cy="52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sz="2952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Avg Satisfaction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29093" y="4470795"/>
            <a:ext cx="12290741" cy="89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2"/>
              </a:lnSpc>
            </a:pPr>
            <a:r>
              <a:rPr lang="en-US" sz="513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4.10/5.0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29093" y="6120724"/>
            <a:ext cx="12290741" cy="52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sz="2952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Patient Volume/Hour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29093" y="6521988"/>
            <a:ext cx="12290741" cy="89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2"/>
              </a:lnSpc>
            </a:pPr>
            <a:r>
              <a:rPr lang="en-US" sz="513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3.3K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27048" y="10577322"/>
            <a:ext cx="15233904" cy="37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Doctor Utilization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27048" y="10849575"/>
            <a:ext cx="1523390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4.25%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27048" y="13119706"/>
            <a:ext cx="15233904" cy="37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No-Show Rate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27048" y="13391960"/>
            <a:ext cx="1523390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22.85%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27048" y="15662072"/>
            <a:ext cx="15233904" cy="37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Complaint Rate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527048" y="15934334"/>
            <a:ext cx="1523390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26.66%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381734" y="9561319"/>
            <a:ext cx="3026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760225" y="7890058"/>
            <a:ext cx="12290741" cy="52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sz="2952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Complaint Rate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029089" y="8291322"/>
            <a:ext cx="12290741" cy="89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82"/>
              </a:lnSpc>
            </a:pPr>
            <a:r>
              <a:rPr lang="en-US" sz="513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26.66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05975" y="1438253"/>
            <a:ext cx="14461400" cy="8170691"/>
          </a:xfrm>
          <a:custGeom>
            <a:avLst/>
            <a:gdLst/>
            <a:ahLst/>
            <a:cxnLst/>
            <a:rect r="r" b="b" t="t" l="l"/>
            <a:pathLst>
              <a:path h="8170691" w="14461400">
                <a:moveTo>
                  <a:pt x="0" y="0"/>
                </a:moveTo>
                <a:lnTo>
                  <a:pt x="14461400" y="0"/>
                </a:lnTo>
                <a:lnTo>
                  <a:pt x="14461400" y="8170691"/>
                </a:lnTo>
                <a:lnTo>
                  <a:pt x="0" y="81706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90572"/>
            <a:ext cx="7088739" cy="84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Deep Dive Dashboard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01384" y="9561319"/>
            <a:ext cx="506566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2499322"/>
            <a:ext cx="15849600" cy="1394422"/>
            <a:chOff x="0" y="0"/>
            <a:chExt cx="21132800" cy="18592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800" cy="1859280"/>
            </a:xfrm>
            <a:custGeom>
              <a:avLst/>
              <a:gdLst/>
              <a:ahLst/>
              <a:cxnLst/>
              <a:rect r="r" b="b" t="t" l="l"/>
              <a:pathLst>
                <a:path h="1859280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859280"/>
                  </a:lnTo>
                  <a:lnTo>
                    <a:pt x="0" y="1859280"/>
                  </a:lnTo>
                  <a:close/>
                </a:path>
              </a:pathLst>
            </a:custGeom>
            <a:solidFill>
              <a:srgbClr val="8C5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19200" y="4198544"/>
            <a:ext cx="15849600" cy="1394422"/>
            <a:chOff x="0" y="0"/>
            <a:chExt cx="21132800" cy="1859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800" cy="1859280"/>
            </a:xfrm>
            <a:custGeom>
              <a:avLst/>
              <a:gdLst/>
              <a:ahLst/>
              <a:cxnLst/>
              <a:rect r="r" b="b" t="t" l="l"/>
              <a:pathLst>
                <a:path h="1859280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859280"/>
                  </a:lnTo>
                  <a:lnTo>
                    <a:pt x="0" y="1859280"/>
                  </a:lnTo>
                  <a:close/>
                </a:path>
              </a:pathLst>
            </a:custGeom>
            <a:solidFill>
              <a:srgbClr val="CB6CE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5897756"/>
            <a:ext cx="15849600" cy="1394422"/>
            <a:chOff x="0" y="0"/>
            <a:chExt cx="21132800" cy="1859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32800" cy="1859280"/>
            </a:xfrm>
            <a:custGeom>
              <a:avLst/>
              <a:gdLst/>
              <a:ahLst/>
              <a:cxnLst/>
              <a:rect r="r" b="b" t="t" l="l"/>
              <a:pathLst>
                <a:path h="1859280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859280"/>
                  </a:lnTo>
                  <a:lnTo>
                    <a:pt x="0" y="1859280"/>
                  </a:lnTo>
                  <a:close/>
                </a:path>
              </a:pathLst>
            </a:custGeom>
            <a:solidFill>
              <a:srgbClr val="8C52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19200" y="1190625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Finding 1: Afternoon Congestion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6400" y="2880322"/>
            <a:ext cx="15233904" cy="54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Morning: 15–31 min avg wait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6400" y="4579544"/>
            <a:ext cx="15233904" cy="54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Afternoon (2–5 PM): 46–60 min avg wait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6400" y="6278756"/>
            <a:ext cx="15233904" cy="54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Peak (5 PM): 60.5 min wait 🔴 Worst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8637394"/>
            <a:ext cx="16166592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Impact: 3,200 afternoon visits × 25-30 min excess = 80K–96K patient-minutes wasted daily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81734" y="9561319"/>
            <a:ext cx="3026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19159" y="2499322"/>
            <a:ext cx="3849691" cy="2605878"/>
            <a:chOff x="0" y="0"/>
            <a:chExt cx="5132921" cy="3474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32959" cy="3474466"/>
            </a:xfrm>
            <a:custGeom>
              <a:avLst/>
              <a:gdLst/>
              <a:ahLst/>
              <a:cxnLst/>
              <a:rect r="r" b="b" t="t" l="l"/>
              <a:pathLst>
                <a:path h="3474466" w="5132959">
                  <a:moveTo>
                    <a:pt x="0" y="0"/>
                  </a:moveTo>
                  <a:lnTo>
                    <a:pt x="5132959" y="0"/>
                  </a:lnTo>
                  <a:lnTo>
                    <a:pt x="5132959" y="3474466"/>
                  </a:lnTo>
                  <a:lnTo>
                    <a:pt x="0" y="3474466"/>
                  </a:lnTo>
                  <a:close/>
                </a:path>
              </a:pathLst>
            </a:custGeom>
            <a:solidFill>
              <a:srgbClr val="8C52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361109" y="6293844"/>
            <a:ext cx="5565772" cy="2605878"/>
            <a:chOff x="0" y="0"/>
            <a:chExt cx="7421029" cy="34745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20991" cy="3474466"/>
            </a:xfrm>
            <a:custGeom>
              <a:avLst/>
              <a:gdLst/>
              <a:ahLst/>
              <a:cxnLst/>
              <a:rect r="r" b="b" t="t" l="l"/>
              <a:pathLst>
                <a:path h="3474466" w="7420991">
                  <a:moveTo>
                    <a:pt x="0" y="0"/>
                  </a:moveTo>
                  <a:lnTo>
                    <a:pt x="7420991" y="0"/>
                  </a:lnTo>
                  <a:lnTo>
                    <a:pt x="7420991" y="3474466"/>
                  </a:lnTo>
                  <a:lnTo>
                    <a:pt x="0" y="3474466"/>
                  </a:lnTo>
                  <a:close/>
                </a:path>
              </a:pathLst>
            </a:custGeom>
            <a:solidFill>
              <a:srgbClr val="CB6CE6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1190625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Finding 2: Tuesday Overload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02451" y="2975572"/>
            <a:ext cx="2683097" cy="965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44.0 min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2451" y="4011806"/>
            <a:ext cx="2683097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Tuesday Avg Wait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61109" y="5486200"/>
            <a:ext cx="5677090" cy="50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vs.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27247" y="6770094"/>
            <a:ext cx="4433506" cy="965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39.7–39.8 min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27247" y="7806328"/>
            <a:ext cx="4433506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Wed–Fri Avg Wait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9299772"/>
            <a:ext cx="16166592" cy="39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6,557 visits on Tuesday | 10.8% degradation | Root cause: Weekend backlog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381734" y="9561319"/>
            <a:ext cx="3026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9996" y="2167605"/>
            <a:ext cx="13811015" cy="2097971"/>
            <a:chOff x="0" y="0"/>
            <a:chExt cx="21132800" cy="3210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800" cy="3210179"/>
            </a:xfrm>
            <a:custGeom>
              <a:avLst/>
              <a:gdLst/>
              <a:ahLst/>
              <a:cxnLst/>
              <a:rect r="r" b="b" t="t" l="l"/>
              <a:pathLst>
                <a:path h="3210179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3210179"/>
                  </a:lnTo>
                  <a:lnTo>
                    <a:pt x="0" y="3210179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079996" y="4663971"/>
            <a:ext cx="13811015" cy="2097971"/>
            <a:chOff x="0" y="0"/>
            <a:chExt cx="21132800" cy="32101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800" cy="3210179"/>
            </a:xfrm>
            <a:custGeom>
              <a:avLst/>
              <a:gdLst/>
              <a:ahLst/>
              <a:cxnLst/>
              <a:rect r="r" b="b" t="t" l="l"/>
              <a:pathLst>
                <a:path h="3210179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3210179"/>
                  </a:lnTo>
                  <a:lnTo>
                    <a:pt x="0" y="3210179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2079996" y="7160329"/>
            <a:ext cx="13811015" cy="2097971"/>
            <a:chOff x="0" y="0"/>
            <a:chExt cx="21132800" cy="3210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32800" cy="3210179"/>
            </a:xfrm>
            <a:custGeom>
              <a:avLst/>
              <a:gdLst/>
              <a:ahLst/>
              <a:cxnLst/>
              <a:rect r="r" b="b" t="t" l="l"/>
              <a:pathLst>
                <a:path h="3210179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3210179"/>
                  </a:lnTo>
                  <a:lnTo>
                    <a:pt x="0" y="3210179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902208" y="733425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Finding 3: 90-Minute Satisfaction Cliff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48249" y="2499325"/>
            <a:ext cx="13274511" cy="46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1"/>
              </a:lnSpc>
            </a:pPr>
            <a:r>
              <a:rPr lang="en-US" sz="2629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Wait ≤ 30 min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48249" y="2776956"/>
            <a:ext cx="13274511" cy="83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9"/>
              </a:lnSpc>
            </a:pPr>
            <a:r>
              <a:rPr lang="en-US" sz="4721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4.12/5.0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48249" y="3531297"/>
            <a:ext cx="13274511" cy="41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5"/>
              </a:lnSpc>
            </a:pPr>
            <a:r>
              <a:rPr lang="en-US" sz="2368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r>
              <a:rPr lang="en-US" sz="2368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% of visits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48249" y="4995691"/>
            <a:ext cx="13274511" cy="46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1"/>
              </a:lnSpc>
            </a:pPr>
            <a:r>
              <a:rPr lang="en-US" sz="2629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Wait 30–90 min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48249" y="5273314"/>
            <a:ext cx="13274511" cy="83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9"/>
              </a:lnSpc>
            </a:pPr>
            <a:r>
              <a:rPr lang="en-US" sz="4721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4.10/5.0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48249" y="6027654"/>
            <a:ext cx="13274511" cy="41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5"/>
              </a:lnSpc>
            </a:pPr>
            <a:r>
              <a:rPr lang="en-US" sz="2368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27% of visits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48249" y="7492048"/>
            <a:ext cx="13274511" cy="46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81"/>
              </a:lnSpc>
            </a:pPr>
            <a:r>
              <a:rPr lang="en-US" sz="2629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Wait &gt; 90 min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48249" y="7769679"/>
            <a:ext cx="13274511" cy="832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9"/>
              </a:lnSpc>
            </a:pPr>
            <a:r>
              <a:rPr lang="en-US" sz="4721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4.01/5.0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48249" y="8524020"/>
            <a:ext cx="13274511" cy="41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5"/>
              </a:lnSpc>
            </a:pPr>
            <a:r>
              <a:rPr lang="en-US" sz="2368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12%</a:t>
            </a:r>
            <a:r>
              <a:rPr lang="en-US" sz="2368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of visits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0704" y="11046228"/>
            <a:ext cx="16166592" cy="42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3,894 vulnerable patients exceed 90-min threshold; disproportionate complaint risk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381734" y="9561319"/>
            <a:ext cx="3026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2651722"/>
            <a:ext cx="15849600" cy="1744856"/>
            <a:chOff x="0" y="0"/>
            <a:chExt cx="21132800" cy="232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800" cy="2326513"/>
            </a:xfrm>
            <a:custGeom>
              <a:avLst/>
              <a:gdLst/>
              <a:ahLst/>
              <a:cxnLst/>
              <a:rect r="r" b="b" t="t" l="l"/>
              <a:pathLst>
                <a:path h="2326513" w="21132800">
                  <a:moveTo>
                    <a:pt x="952500" y="0"/>
                  </a:moveTo>
                  <a:lnTo>
                    <a:pt x="20180300" y="0"/>
                  </a:lnTo>
                  <a:cubicBezTo>
                    <a:pt x="20706352" y="0"/>
                    <a:pt x="21132800" y="426449"/>
                    <a:pt x="21132800" y="952500"/>
                  </a:cubicBezTo>
                  <a:lnTo>
                    <a:pt x="21132800" y="1374013"/>
                  </a:lnTo>
                  <a:cubicBezTo>
                    <a:pt x="21132800" y="1900064"/>
                    <a:pt x="20706352" y="2326513"/>
                    <a:pt x="20180300" y="2326513"/>
                  </a:cubicBezTo>
                  <a:lnTo>
                    <a:pt x="952500" y="2326513"/>
                  </a:lnTo>
                  <a:cubicBezTo>
                    <a:pt x="699881" y="2326513"/>
                    <a:pt x="457609" y="2226161"/>
                    <a:pt x="278981" y="2047532"/>
                  </a:cubicBezTo>
                  <a:cubicBezTo>
                    <a:pt x="100352" y="1868904"/>
                    <a:pt x="0" y="1626632"/>
                    <a:pt x="0" y="1374013"/>
                  </a:cubicBezTo>
                  <a:lnTo>
                    <a:pt x="0" y="952500"/>
                  </a:ln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19200" y="4701388"/>
            <a:ext cx="15849600" cy="1744856"/>
            <a:chOff x="0" y="0"/>
            <a:chExt cx="21132800" cy="23264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800" cy="2326513"/>
            </a:xfrm>
            <a:custGeom>
              <a:avLst/>
              <a:gdLst/>
              <a:ahLst/>
              <a:cxnLst/>
              <a:rect r="r" b="b" t="t" l="l"/>
              <a:pathLst>
                <a:path h="2326513" w="21132800">
                  <a:moveTo>
                    <a:pt x="952500" y="0"/>
                  </a:moveTo>
                  <a:lnTo>
                    <a:pt x="20180300" y="0"/>
                  </a:lnTo>
                  <a:cubicBezTo>
                    <a:pt x="20706352" y="0"/>
                    <a:pt x="21132800" y="426449"/>
                    <a:pt x="21132800" y="952500"/>
                  </a:cubicBezTo>
                  <a:lnTo>
                    <a:pt x="21132800" y="1374013"/>
                  </a:lnTo>
                  <a:cubicBezTo>
                    <a:pt x="21132800" y="1900064"/>
                    <a:pt x="20706352" y="2326513"/>
                    <a:pt x="20180300" y="2326513"/>
                  </a:cubicBezTo>
                  <a:lnTo>
                    <a:pt x="952500" y="2326513"/>
                  </a:lnTo>
                  <a:cubicBezTo>
                    <a:pt x="699881" y="2326513"/>
                    <a:pt x="457609" y="2226161"/>
                    <a:pt x="278981" y="2047532"/>
                  </a:cubicBezTo>
                  <a:cubicBezTo>
                    <a:pt x="100352" y="1868904"/>
                    <a:pt x="0" y="1626632"/>
                    <a:pt x="0" y="1374013"/>
                  </a:cubicBezTo>
                  <a:lnTo>
                    <a:pt x="0" y="952500"/>
                  </a:ln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6751044"/>
            <a:ext cx="15849600" cy="1744856"/>
            <a:chOff x="0" y="0"/>
            <a:chExt cx="21132800" cy="2326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32800" cy="2326513"/>
            </a:xfrm>
            <a:custGeom>
              <a:avLst/>
              <a:gdLst/>
              <a:ahLst/>
              <a:cxnLst/>
              <a:rect r="r" b="b" t="t" l="l"/>
              <a:pathLst>
                <a:path h="2326513" w="21132800">
                  <a:moveTo>
                    <a:pt x="952500" y="0"/>
                  </a:moveTo>
                  <a:lnTo>
                    <a:pt x="20180300" y="0"/>
                  </a:lnTo>
                  <a:cubicBezTo>
                    <a:pt x="20706352" y="0"/>
                    <a:pt x="21132800" y="426449"/>
                    <a:pt x="21132800" y="952500"/>
                  </a:cubicBezTo>
                  <a:lnTo>
                    <a:pt x="21132800" y="1374013"/>
                  </a:lnTo>
                  <a:cubicBezTo>
                    <a:pt x="21132800" y="1900064"/>
                    <a:pt x="20706352" y="2326513"/>
                    <a:pt x="20180300" y="2326513"/>
                  </a:cubicBezTo>
                  <a:lnTo>
                    <a:pt x="952500" y="2326513"/>
                  </a:lnTo>
                  <a:cubicBezTo>
                    <a:pt x="699881" y="2326513"/>
                    <a:pt x="457609" y="2226161"/>
                    <a:pt x="278981" y="2047532"/>
                  </a:cubicBezTo>
                  <a:cubicBezTo>
                    <a:pt x="100352" y="1868904"/>
                    <a:pt x="0" y="1626632"/>
                    <a:pt x="0" y="1374013"/>
                  </a:cubicBezTo>
                  <a:lnTo>
                    <a:pt x="0" y="952500"/>
                  </a:lnTo>
                  <a:cubicBezTo>
                    <a:pt x="0" y="426449"/>
                    <a:pt x="426449" y="0"/>
                    <a:pt x="952500" y="0"/>
                  </a:cubicBez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19200" y="1190625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Why This Matters: Business Impact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2600" y="3080347"/>
            <a:ext cx="4447095" cy="52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DC2626"/>
                </a:solidFill>
                <a:latin typeface="Arial Bold"/>
                <a:ea typeface="Arial Bold"/>
                <a:cs typeface="Arial Bold"/>
                <a:sym typeface="Arial Bold"/>
              </a:rPr>
              <a:t>Patient Retention Risk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2600" y="3508972"/>
            <a:ext cx="15156180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26.7% complaint rate threatens referrals &amp; lifetime value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2600" y="5130013"/>
            <a:ext cx="3679032" cy="52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EA580C"/>
                </a:solidFill>
                <a:latin typeface="Arial Bold"/>
                <a:ea typeface="Arial Bold"/>
                <a:cs typeface="Arial Bold"/>
                <a:sym typeface="Arial Bold"/>
              </a:rPr>
              <a:t>Operational Waste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2600" y="5558638"/>
            <a:ext cx="15156180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53% exceeding 30-min = 80K+ wasted patient-minutes daily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52600" y="7179669"/>
            <a:ext cx="2676701" cy="52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F59E0B"/>
                </a:solidFill>
                <a:latin typeface="Arial Bold"/>
                <a:ea typeface="Arial Bold"/>
                <a:cs typeface="Arial Bold"/>
                <a:sym typeface="Arial Bold"/>
              </a:rPr>
              <a:t>Staff Burnout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52600" y="7608294"/>
            <a:ext cx="15156180" cy="41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60-min afternoon waits create provider fatigue &amp; care quality risk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81734" y="9561319"/>
            <a:ext cx="3026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2499322"/>
            <a:ext cx="15849600" cy="982856"/>
            <a:chOff x="0" y="0"/>
            <a:chExt cx="21132800" cy="1310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800" cy="1310513"/>
            </a:xfrm>
            <a:custGeom>
              <a:avLst/>
              <a:gdLst/>
              <a:ahLst/>
              <a:cxnLst/>
              <a:rect r="r" b="b" t="t" l="l"/>
              <a:pathLst>
                <a:path h="1310513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310513"/>
                  </a:lnTo>
                  <a:lnTo>
                    <a:pt x="0" y="1310513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19200" y="3634588"/>
            <a:ext cx="15849600" cy="982856"/>
            <a:chOff x="0" y="0"/>
            <a:chExt cx="21132800" cy="13104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800" cy="1310513"/>
            </a:xfrm>
            <a:custGeom>
              <a:avLst/>
              <a:gdLst/>
              <a:ahLst/>
              <a:cxnLst/>
              <a:rect r="r" b="b" t="t" l="l"/>
              <a:pathLst>
                <a:path h="1310513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310513"/>
                  </a:lnTo>
                  <a:lnTo>
                    <a:pt x="0" y="1310513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4769844"/>
            <a:ext cx="15849600" cy="982856"/>
            <a:chOff x="0" y="0"/>
            <a:chExt cx="21132800" cy="1310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32800" cy="1310513"/>
            </a:xfrm>
            <a:custGeom>
              <a:avLst/>
              <a:gdLst/>
              <a:ahLst/>
              <a:cxnLst/>
              <a:rect r="r" b="b" t="t" l="l"/>
              <a:pathLst>
                <a:path h="1310513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310513"/>
                  </a:lnTo>
                  <a:lnTo>
                    <a:pt x="0" y="1310513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9200" y="5905109"/>
            <a:ext cx="15849600" cy="982856"/>
            <a:chOff x="0" y="0"/>
            <a:chExt cx="21132800" cy="13104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132800" cy="1310513"/>
            </a:xfrm>
            <a:custGeom>
              <a:avLst/>
              <a:gdLst/>
              <a:ahLst/>
              <a:cxnLst/>
              <a:rect r="r" b="b" t="t" l="l"/>
              <a:pathLst>
                <a:path h="1310513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310513"/>
                  </a:lnTo>
                  <a:lnTo>
                    <a:pt x="0" y="1310513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19200" y="7040366"/>
            <a:ext cx="15849600" cy="982856"/>
            <a:chOff x="0" y="0"/>
            <a:chExt cx="21132800" cy="13104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132800" cy="1310513"/>
            </a:xfrm>
            <a:custGeom>
              <a:avLst/>
              <a:gdLst/>
              <a:ahLst/>
              <a:cxnLst/>
              <a:rect r="r" b="b" t="t" l="l"/>
              <a:pathLst>
                <a:path h="1310513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310513"/>
                  </a:lnTo>
                  <a:lnTo>
                    <a:pt x="0" y="1310513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19200" y="8175631"/>
            <a:ext cx="15849600" cy="982856"/>
            <a:chOff x="0" y="0"/>
            <a:chExt cx="21132800" cy="13104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32800" cy="1310513"/>
            </a:xfrm>
            <a:custGeom>
              <a:avLst/>
              <a:gdLst/>
              <a:ahLst/>
              <a:cxnLst/>
              <a:rect r="r" b="b" t="t" l="l"/>
              <a:pathLst>
                <a:path h="1310513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1310513"/>
                  </a:lnTo>
                  <a:lnTo>
                    <a:pt x="0" y="1310513"/>
                  </a:lnTo>
                  <a:close/>
                </a:path>
              </a:pathLst>
            </a:custGeom>
            <a:solidFill>
              <a:srgbClr val="1E293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19200" y="1190625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6 Prioritized Recommendations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0200" y="2746972"/>
            <a:ext cx="15467076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🟢 R1: Dynamic Afternoon Scheduling (30 days) → Shift visits to morning/evening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0200" y="3882238"/>
            <a:ext cx="15467076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🟢 R2: Tuesday Surge Capacity (45 days) → Add staff or move appointments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0200" y="5017494"/>
            <a:ext cx="15467076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🟡 R3: 90-Min Breach Protocol (Immediate) → Alert managers, service recovery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00200" y="6152759"/>
            <a:ext cx="15467076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🟡 R4: Complaint Root-Cause Survey (60 days) → QR-code feedback loop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00200" y="7288016"/>
            <a:ext cx="15467076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🟡 R5: Staff Schedule Rebalancing (60 days) → Align shifts with demand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0200" y="8423281"/>
            <a:ext cx="15467076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🟢 R6: Peak-Hour Appointment Cap (15 days) → Limit overbooking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81734" y="9561319"/>
            <a:ext cx="3026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2651722"/>
            <a:ext cx="15849600" cy="1744856"/>
            <a:chOff x="0" y="0"/>
            <a:chExt cx="21132800" cy="232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132800" cy="2326513"/>
            </a:xfrm>
            <a:custGeom>
              <a:avLst/>
              <a:gdLst/>
              <a:ahLst/>
              <a:cxnLst/>
              <a:rect r="r" b="b" t="t" l="l"/>
              <a:pathLst>
                <a:path h="2326513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2326513"/>
                  </a:lnTo>
                  <a:lnTo>
                    <a:pt x="0" y="2326513"/>
                  </a:lnTo>
                  <a:close/>
                </a:path>
              </a:pathLst>
            </a:custGeom>
            <a:solidFill>
              <a:srgbClr val="54545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19200" y="4701388"/>
            <a:ext cx="15849600" cy="1744856"/>
            <a:chOff x="0" y="0"/>
            <a:chExt cx="21132800" cy="23264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800" cy="2326513"/>
            </a:xfrm>
            <a:custGeom>
              <a:avLst/>
              <a:gdLst/>
              <a:ahLst/>
              <a:cxnLst/>
              <a:rect r="r" b="b" t="t" l="l"/>
              <a:pathLst>
                <a:path h="2326513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2326513"/>
                  </a:lnTo>
                  <a:lnTo>
                    <a:pt x="0" y="2326513"/>
                  </a:lnTo>
                  <a:close/>
                </a:path>
              </a:pathLst>
            </a:custGeom>
            <a:solidFill>
              <a:srgbClr val="54545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219200" y="6751044"/>
            <a:ext cx="15849600" cy="1744856"/>
            <a:chOff x="0" y="0"/>
            <a:chExt cx="21132800" cy="2326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32800" cy="2326513"/>
            </a:xfrm>
            <a:custGeom>
              <a:avLst/>
              <a:gdLst/>
              <a:ahLst/>
              <a:cxnLst/>
              <a:rect r="r" b="b" t="t" l="l"/>
              <a:pathLst>
                <a:path h="2326513" w="21132800">
                  <a:moveTo>
                    <a:pt x="0" y="0"/>
                  </a:moveTo>
                  <a:lnTo>
                    <a:pt x="21132800" y="0"/>
                  </a:lnTo>
                  <a:lnTo>
                    <a:pt x="21132800" y="2326513"/>
                  </a:lnTo>
                  <a:lnTo>
                    <a:pt x="0" y="2326513"/>
                  </a:lnTo>
                  <a:close/>
                </a:path>
              </a:pathLst>
            </a:custGeom>
            <a:solidFill>
              <a:srgbClr val="54545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19200" y="1190625"/>
            <a:ext cx="16166592" cy="85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Expected Impact &amp; Timeline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76400" y="3089872"/>
            <a:ext cx="4822913" cy="53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Quick Wins (0–30 days)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6400" y="3508972"/>
            <a:ext cx="15233904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Reduce afternoon wait 5–10 min | Peak-hour cap + 90-min alerts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6400" y="5139538"/>
            <a:ext cx="4918825" cy="53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Short-term (30–60 days)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6400" y="5558638"/>
            <a:ext cx="15233904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Tuesday/Wed variance eliminated | Complaint rate 26.7% → 18–20%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6400" y="7189194"/>
            <a:ext cx="5662745" cy="533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Medium-term (60–180 days)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76400" y="7608294"/>
            <a:ext cx="15233904" cy="43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10–20% operational efficiency gain | Staff utilization optimized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81734" y="9561319"/>
            <a:ext cx="3026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21716" y="3459270"/>
            <a:ext cx="6048575" cy="418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48024" indent="-374012" lvl="1">
              <a:lnSpc>
                <a:spcPts val="5579"/>
              </a:lnSpc>
              <a:buFont typeface="Arial"/>
              <a:buChar char="•"/>
            </a:pPr>
            <a:r>
              <a:rPr lang="en-US" sz="30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Implement dynamic afternoon scheduling (30 days)</a:t>
            </a:r>
          </a:p>
          <a:p>
            <a:pPr algn="ctr" marL="748024" indent="-374012" lvl="1">
              <a:lnSpc>
                <a:spcPts val="5579"/>
              </a:lnSpc>
              <a:buFont typeface="Arial"/>
              <a:buChar char="•"/>
            </a:pPr>
            <a:r>
              <a:rPr lang="en-US" sz="30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Launch 90-minute alert system</a:t>
            </a:r>
          </a:p>
          <a:p>
            <a:pPr algn="ctr" marL="748024" indent="-374012" lvl="1">
              <a:lnSpc>
                <a:spcPts val="5579"/>
              </a:lnSpc>
              <a:buFont typeface="Arial"/>
              <a:buChar char="•"/>
            </a:pPr>
            <a:r>
              <a:rPr lang="en-US" sz="3099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Begin complaint root-cause survey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8258962" y="1113329"/>
            <a:ext cx="10026280" cy="8060343"/>
            <a:chOff x="0" y="0"/>
            <a:chExt cx="647700" cy="5207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897" y="4333"/>
              <a:ext cx="635907" cy="512033"/>
            </a:xfrm>
            <a:custGeom>
              <a:avLst/>
              <a:gdLst/>
              <a:ahLst/>
              <a:cxnLst/>
              <a:rect r="r" b="b" t="t" l="l"/>
              <a:pathLst>
                <a:path h="512033" w="635907">
                  <a:moveTo>
                    <a:pt x="327544" y="3378"/>
                  </a:moveTo>
                  <a:lnTo>
                    <a:pt x="632212" y="248306"/>
                  </a:lnTo>
                  <a:cubicBezTo>
                    <a:pt x="634548" y="250184"/>
                    <a:pt x="635906" y="253020"/>
                    <a:pt x="635906" y="256017"/>
                  </a:cubicBezTo>
                  <a:cubicBezTo>
                    <a:pt x="635906" y="259014"/>
                    <a:pt x="634548" y="261850"/>
                    <a:pt x="632212" y="263728"/>
                  </a:cubicBezTo>
                  <a:lnTo>
                    <a:pt x="327544" y="508656"/>
                  </a:lnTo>
                  <a:cubicBezTo>
                    <a:pt x="321943" y="513159"/>
                    <a:pt x="313963" y="513159"/>
                    <a:pt x="308362" y="508656"/>
                  </a:cubicBezTo>
                  <a:lnTo>
                    <a:pt x="3694" y="263728"/>
                  </a:lnTo>
                  <a:cubicBezTo>
                    <a:pt x="1358" y="261850"/>
                    <a:pt x="0" y="259014"/>
                    <a:pt x="0" y="256017"/>
                  </a:cubicBezTo>
                  <a:cubicBezTo>
                    <a:pt x="0" y="253020"/>
                    <a:pt x="1358" y="250184"/>
                    <a:pt x="3694" y="248306"/>
                  </a:cubicBezTo>
                  <a:lnTo>
                    <a:pt x="308362" y="3378"/>
                  </a:lnTo>
                  <a:cubicBezTo>
                    <a:pt x="313963" y="-1125"/>
                    <a:pt x="321943" y="-1125"/>
                    <a:pt x="327544" y="3378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52400" y="57150"/>
              <a:ext cx="3429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409150" y="1320086"/>
            <a:ext cx="9663907" cy="1000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38BDF8"/>
                </a:solidFill>
                <a:latin typeface="Arial Bold"/>
                <a:ea typeface="Arial Bold"/>
                <a:cs typeface="Arial Bold"/>
                <a:sym typeface="Arial Bold"/>
              </a:rPr>
              <a:t>Next Steps 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44273" y="2615508"/>
            <a:ext cx="5193661" cy="723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4599" b="true">
                <a:solidFill>
                  <a:srgbClr val="CBD5E1"/>
                </a:solidFill>
                <a:latin typeface="Arial Bold"/>
                <a:ea typeface="Arial Bold"/>
                <a:cs typeface="Arial Bold"/>
                <a:sym typeface="Arial Bold"/>
              </a:rPr>
              <a:t>Immediate Actions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62703" y="7879156"/>
            <a:ext cx="7166600" cy="119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10–20% efficiency gains achievable within 6 months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378772" y="9561319"/>
            <a:ext cx="302600" cy="73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  <a:p>
            <a:pPr algn="ctr">
              <a:lnSpc>
                <a:spcPts val="294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6676746" y="1113329"/>
            <a:ext cx="10026280" cy="8060343"/>
            <a:chOff x="0" y="0"/>
            <a:chExt cx="647700" cy="5207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5897" y="4333"/>
              <a:ext cx="635907" cy="512033"/>
            </a:xfrm>
            <a:custGeom>
              <a:avLst/>
              <a:gdLst/>
              <a:ahLst/>
              <a:cxnLst/>
              <a:rect r="r" b="b" t="t" l="l"/>
              <a:pathLst>
                <a:path h="512033" w="635907">
                  <a:moveTo>
                    <a:pt x="327544" y="3378"/>
                  </a:moveTo>
                  <a:lnTo>
                    <a:pt x="632212" y="248306"/>
                  </a:lnTo>
                  <a:cubicBezTo>
                    <a:pt x="634548" y="250184"/>
                    <a:pt x="635906" y="253020"/>
                    <a:pt x="635906" y="256017"/>
                  </a:cubicBezTo>
                  <a:cubicBezTo>
                    <a:pt x="635906" y="259014"/>
                    <a:pt x="634548" y="261850"/>
                    <a:pt x="632212" y="263728"/>
                  </a:cubicBezTo>
                  <a:lnTo>
                    <a:pt x="327544" y="508656"/>
                  </a:lnTo>
                  <a:cubicBezTo>
                    <a:pt x="321943" y="513159"/>
                    <a:pt x="313963" y="513159"/>
                    <a:pt x="308362" y="508656"/>
                  </a:cubicBezTo>
                  <a:lnTo>
                    <a:pt x="3694" y="263728"/>
                  </a:lnTo>
                  <a:cubicBezTo>
                    <a:pt x="1358" y="261850"/>
                    <a:pt x="0" y="259014"/>
                    <a:pt x="0" y="256017"/>
                  </a:cubicBezTo>
                  <a:cubicBezTo>
                    <a:pt x="0" y="253020"/>
                    <a:pt x="1358" y="250184"/>
                    <a:pt x="3694" y="248306"/>
                  </a:cubicBezTo>
                  <a:lnTo>
                    <a:pt x="308362" y="3378"/>
                  </a:lnTo>
                  <a:cubicBezTo>
                    <a:pt x="313963" y="-1125"/>
                    <a:pt x="321943" y="-1125"/>
                    <a:pt x="327544" y="3378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52400" y="57150"/>
              <a:ext cx="342900" cy="349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DAG9fHXaAPg</dc:identifier>
  <dcterms:modified xsi:type="dcterms:W3CDTF">2011-08-01T06:04:30Z</dcterms:modified>
  <cp:revision>1</cp:revision>
  <dc:title>January 2026 | Lyna Adalet, Tasnim BenDhia, Khalil Louhichi , Leila Baccouche</dc:title>
</cp:coreProperties>
</file>